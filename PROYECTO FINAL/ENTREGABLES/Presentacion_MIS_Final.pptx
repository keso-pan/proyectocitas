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Slides/notesSlide6.xml" ContentType="application/vnd.openxmlformats-officedocument.presentationml.notesSlide+xml"/>
  <Override PartName="/ppt/charts/chart3.xml" ContentType="application/vnd.openxmlformats-officedocument.drawingml.chart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1"/>
  </p:notesMasterIdLst>
  <p:sldIdLst>
    <p:sldId id="256" r:id="rId2"/>
    <p:sldId id="257" r:id="rId3"/>
    <p:sldId id="258" r:id="rId4"/>
    <p:sldId id="259" r:id="rId5"/>
    <p:sldId id="261" r:id="rId6"/>
    <p:sldId id="262" r:id="rId7"/>
    <p:sldId id="263" r:id="rId8"/>
    <p:sldId id="264" r:id="rId9"/>
    <p:sldId id="265" r:id="rId10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46" d="100"/>
          <a:sy n="146" d="100"/>
        </p:scale>
        <p:origin x="594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1"/>
  <c:style val="2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000000"/>
                </a:solidFill>
                <a:latin typeface="Arial"/>
              </a:defRPr>
            </a:pPr>
            <a:r>
              <a:rPr lang="es-ES" sz="1100" b="0" i="0" u="none" strike="noStrike">
                <a:solidFill>
                  <a:srgbClr val="000000"/>
                </a:solidFill>
                <a:latin typeface="Arial"/>
              </a:rPr>
              <a:t>KPI 1 y 2: Distribución de Citas</a:t>
            </a:r>
          </a:p>
        </c:rich>
      </c:tx>
      <c:overlay val="0"/>
    </c:title>
    <c:autoTitleDeleted val="0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Estado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22C55E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C308-4B14-B26B-3A71307E95C3}"/>
              </c:ext>
            </c:extLst>
          </c:dPt>
          <c:dPt>
            <c:idx val="1"/>
            <c:bubble3D val="0"/>
            <c:spPr>
              <a:solidFill>
                <a:srgbClr val="065A82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C308-4B14-B26B-3A71307E95C3}"/>
              </c:ext>
            </c:extLst>
          </c:dPt>
          <c:dPt>
            <c:idx val="2"/>
            <c:bubble3D val="0"/>
            <c:spPr>
              <a:solidFill>
                <a:srgbClr val="F59E0B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C308-4B14-B26B-3A71307E95C3}"/>
              </c:ext>
            </c:extLst>
          </c:dPt>
          <c:dPt>
            <c:idx val="3"/>
            <c:bubble3D val="0"/>
            <c:spPr>
              <a:solidFill>
                <a:srgbClr val="D62828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C308-4B14-B26B-3A71307E95C3}"/>
              </c:ext>
            </c:extLst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  <a:endParaRPr lang="es-EC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C308-4B14-B26B-3A71307E95C3}"/>
                </c:ext>
              </c:extLst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  <a:endParaRPr lang="es-EC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C308-4B14-B26B-3A71307E95C3}"/>
                </c:ext>
              </c:extLst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  <a:endParaRPr lang="es-EC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C308-4B14-B26B-3A71307E95C3}"/>
                </c:ext>
              </c:extLst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  <a:endParaRPr lang="es-EC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C308-4B14-B26B-3A71307E95C3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endParaRPr lang="es-EC"/>
              </a:p>
            </c:txPr>
            <c:dLblPos val="ctr"/>
            <c:showLegendKey val="0"/>
            <c:showVal val="0"/>
            <c:showCatName val="1"/>
            <c:showSerName val="0"/>
            <c:showPercent val="1"/>
            <c:showBubbleSize val="0"/>
            <c:showLeaderLines val="0"/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Sheet1!$A$2:$A$5</c:f>
              <c:strCache>
                <c:ptCount val="4"/>
                <c:pt idx="0">
                  <c:v>Atendida</c:v>
                </c:pt>
                <c:pt idx="1">
                  <c:v>Activa</c:v>
                </c:pt>
                <c:pt idx="2">
                  <c:v>Cancelada</c:v>
                </c:pt>
                <c:pt idx="3">
                  <c:v>No Asistió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80.3</c:v>
                </c:pt>
                <c:pt idx="1">
                  <c:v>10.7</c:v>
                </c:pt>
                <c:pt idx="2">
                  <c:v>5.4</c:v>
                </c:pt>
                <c:pt idx="3">
                  <c:v>3.6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C308-4B14-B26B-3A71307E95C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</c:pieChart>
      <c:spPr>
        <a:noFill/>
        <a:ln>
          <a:noFill/>
        </a:ln>
        <a:effectLst/>
      </c:spPr>
    </c:plotArea>
    <c:legend>
      <c:legendPos val="r"/>
      <c:overlay val="0"/>
    </c:legend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1"/>
  <c:style val="2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000000"/>
                </a:solidFill>
                <a:latin typeface="Arial"/>
              </a:defRPr>
            </a:pPr>
            <a:r>
              <a:rPr lang="es-EC" sz="1100" b="0" i="0" u="none" strike="noStrike">
                <a:solidFill>
                  <a:srgbClr val="000000"/>
                </a:solidFill>
                <a:latin typeface="Arial"/>
              </a:rPr>
              <a:t>KPI 3: Top 5 Especialidades</a:t>
            </a:r>
          </a:p>
        </c:rich>
      </c:tx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Citas</c:v>
                </c:pt>
              </c:strCache>
            </c:strRef>
          </c:tx>
          <c:spPr>
            <a:solidFill>
              <a:srgbClr val="065A82"/>
            </a:solidFill>
            <a:effectLst/>
          </c:spPr>
          <c:invertIfNegative val="0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1-4A14-4172-96A3-D50AB13976C8}"/>
              </c:ext>
            </c:extLst>
          </c:dPt>
          <c:dPt>
            <c:idx val="1"/>
            <c:invertIfNegative val="0"/>
            <c:bubble3D val="0"/>
            <c:spPr>
              <a:solidFill>
                <a:srgbClr val="1C729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4A14-4172-96A3-D50AB13976C8}"/>
              </c:ext>
            </c:extLst>
          </c:dPt>
          <c:dPt>
            <c:idx val="2"/>
            <c:invertIfNegative val="0"/>
            <c:bubble3D val="0"/>
            <c:spPr>
              <a:solidFill>
                <a:srgbClr val="02C39A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4A14-4172-96A3-D50AB13976C8}"/>
              </c:ext>
            </c:extLst>
          </c:dPt>
          <c:dPt>
            <c:idx val="3"/>
            <c:invertIfNegative val="0"/>
            <c:bubble3D val="0"/>
            <c:spPr>
              <a:solidFill>
                <a:srgbClr val="0D9488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4A14-4172-96A3-D50AB13976C8}"/>
              </c:ext>
            </c:extLst>
          </c:dPt>
          <c:dPt>
            <c:idx val="4"/>
            <c:invertIfNegative val="0"/>
            <c:bubble3D val="0"/>
            <c:spPr>
              <a:solidFill>
                <a:srgbClr val="14B8A6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9-4A14-4172-96A3-D50AB13976C8}"/>
              </c:ext>
            </c:extLst>
          </c:dPt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9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endParaRPr lang="es-EC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Sheet1!$A$2:$A$6</c:f>
              <c:strCache>
                <c:ptCount val="5"/>
                <c:pt idx="0">
                  <c:v>Otorrinolar.</c:v>
                </c:pt>
                <c:pt idx="1">
                  <c:v>Neumología</c:v>
                </c:pt>
                <c:pt idx="2">
                  <c:v>Med. General</c:v>
                </c:pt>
                <c:pt idx="3">
                  <c:v>Neurología</c:v>
                </c:pt>
                <c:pt idx="4">
                  <c:v>Gastroenter.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3477</c:v>
                </c:pt>
                <c:pt idx="1">
                  <c:v>2954</c:v>
                </c:pt>
                <c:pt idx="2">
                  <c:v>2829</c:v>
                </c:pt>
                <c:pt idx="3">
                  <c:v>2755</c:v>
                </c:pt>
                <c:pt idx="4">
                  <c:v>2712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A-4A14-4172-96A3-D50AB13976C8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1"/>
  <c:style val="2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r>
              <a:rPr lang="es-EC" sz="1200" b="0" i="0" u="none" strike="noStrike">
                <a:solidFill>
                  <a:srgbClr val="000000"/>
                </a:solidFill>
                <a:latin typeface="Arial"/>
              </a:rPr>
              <a:t>Agendamientos Mensuales (May 2026 – May 2027)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Citas por mes</c:v>
                </c:pt>
              </c:strCache>
            </c:strRef>
          </c:tx>
          <c:spPr>
            <a:ln w="38100" cap="flat">
              <a:solidFill>
                <a:srgbClr val="065A82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65A82"/>
              </a:solidFill>
              <a:ln w="9525" cap="flat">
                <a:solidFill>
                  <a:srgbClr val="065A82"/>
                </a:solidFill>
                <a:prstDash val="solid"/>
                <a:round/>
              </a:ln>
              <a:effectLst/>
            </c:spPr>
          </c:marker>
          <c:cat>
            <c:strRef>
              <c:f>Sheet1!$A$2:$A$14</c:f>
              <c:strCache>
                <c:ptCount val="13"/>
                <c:pt idx="0">
                  <c:v>May-26</c:v>
                </c:pt>
                <c:pt idx="1">
                  <c:v>Jun-26</c:v>
                </c:pt>
                <c:pt idx="2">
                  <c:v>Jul-26</c:v>
                </c:pt>
                <c:pt idx="3">
                  <c:v>Ago-26</c:v>
                </c:pt>
                <c:pt idx="4">
                  <c:v>Sep-26</c:v>
                </c:pt>
                <c:pt idx="5">
                  <c:v>Oct-26</c:v>
                </c:pt>
                <c:pt idx="6">
                  <c:v>Nov-26</c:v>
                </c:pt>
                <c:pt idx="7">
                  <c:v>Dic-26</c:v>
                </c:pt>
                <c:pt idx="8">
                  <c:v>Ene-27</c:v>
                </c:pt>
                <c:pt idx="9">
                  <c:v>Feb-27</c:v>
                </c:pt>
                <c:pt idx="10">
                  <c:v>Mar-27</c:v>
                </c:pt>
                <c:pt idx="11">
                  <c:v>Abr-27</c:v>
                </c:pt>
                <c:pt idx="12">
                  <c:v>May-27</c:v>
                </c:pt>
              </c:strCache>
            </c:strRef>
          </c:cat>
          <c:val>
            <c:numRef>
              <c:f>Sheet1!$B$2:$B$14</c:f>
              <c:numCache>
                <c:formatCode>General</c:formatCode>
                <c:ptCount val="13"/>
                <c:pt idx="0">
                  <c:v>41</c:v>
                </c:pt>
                <c:pt idx="1">
                  <c:v>1267</c:v>
                </c:pt>
                <c:pt idx="2">
                  <c:v>1559</c:v>
                </c:pt>
                <c:pt idx="3">
                  <c:v>1893</c:v>
                </c:pt>
                <c:pt idx="4">
                  <c:v>2207</c:v>
                </c:pt>
                <c:pt idx="5">
                  <c:v>2866</c:v>
                </c:pt>
                <c:pt idx="6">
                  <c:v>3466</c:v>
                </c:pt>
                <c:pt idx="7">
                  <c:v>4294</c:v>
                </c:pt>
                <c:pt idx="8">
                  <c:v>4303</c:v>
                </c:pt>
                <c:pt idx="9">
                  <c:v>2656</c:v>
                </c:pt>
                <c:pt idx="10">
                  <c:v>2095</c:v>
                </c:pt>
                <c:pt idx="11">
                  <c:v>1814</c:v>
                </c:pt>
                <c:pt idx="12">
                  <c:v>1539</c:v>
                </c:pt>
              </c:numCache>
            </c:numRef>
          </c:val>
          <c:smooth val="1"/>
          <c:extLst>
            <c:ext xmlns:c16="http://schemas.microsoft.com/office/drawing/2014/chart" uri="{C3380CC4-5D6E-409C-BE32-E72D297353CC}">
              <c16:uniqueId val="{00000000-B9BD-4158-8B9A-4083B05DCB9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93086684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.png"/><Relationship Id="rId5" Type="http://schemas.openxmlformats.org/officeDocument/2006/relationships/image" Target="../media/image1.png"/><Relationship Id="rId4" Type="http://schemas.openxmlformats.org/officeDocument/2006/relationships/chart" Target="../charts/char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chart" Target="../charts/chart3.xm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215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3" name="Shape 1"/>
          <p:cNvSpPr/>
          <p:nvPr/>
        </p:nvSpPr>
        <p:spPr>
          <a:xfrm>
            <a:off x="0" y="54864"/>
            <a:ext cx="3474720" cy="5088636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4" name="Text 2"/>
          <p:cNvSpPr/>
          <p:nvPr/>
        </p:nvSpPr>
        <p:spPr>
          <a:xfrm>
            <a:off x="274320" y="1097280"/>
            <a:ext cx="292608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600" b="1" dirty="0">
                <a:solidFill>
                  <a:srgbClr val="FFFFFF">
                    <a:alpha val="15000"/>
                  </a:srgbClr>
                </a:solidFill>
              </a:rPr>
              <a:t>MIS</a:t>
            </a:r>
            <a:endParaRPr lang="en-US" sz="9600" dirty="0"/>
          </a:p>
        </p:txBody>
      </p:sp>
      <p:sp>
        <p:nvSpPr>
          <p:cNvPr id="5" name="Shape 3"/>
          <p:cNvSpPr/>
          <p:nvPr/>
        </p:nvSpPr>
        <p:spPr>
          <a:xfrm>
            <a:off x="1051560" y="731520"/>
            <a:ext cx="1371600" cy="1371600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6" name="Text 4"/>
          <p:cNvSpPr/>
          <p:nvPr/>
        </p:nvSpPr>
        <p:spPr>
          <a:xfrm>
            <a:off x="1051560" y="731520"/>
            <a:ext cx="1371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200" b="1" dirty="0">
                <a:solidFill>
                  <a:srgbClr val="021526"/>
                </a:solidFill>
              </a:rPr>
              <a:t>+</a:t>
            </a:r>
            <a:endParaRPr lang="en-US" sz="5200" dirty="0"/>
          </a:p>
        </p:txBody>
      </p:sp>
      <p:sp>
        <p:nvSpPr>
          <p:cNvPr id="7" name="Text 5"/>
          <p:cNvSpPr/>
          <p:nvPr/>
        </p:nvSpPr>
        <p:spPr>
          <a:xfrm>
            <a:off x="3749040" y="365760"/>
            <a:ext cx="5120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02C39A"/>
                </a:solidFill>
              </a:rPr>
              <a:t>ESCUELA POLITÉCNICA NACIONAL — EPN/FIS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749040" y="777240"/>
            <a:ext cx="512064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FFFFFF"/>
                </a:solidFill>
              </a:rPr>
              <a:t>SISTEMA DE INFORMACIÓN</a:t>
            </a:r>
            <a:endParaRPr lang="en-US" sz="2800" dirty="0"/>
          </a:p>
          <a:p>
            <a:pPr marL="0" indent="0" algn="l">
              <a:buNone/>
            </a:pPr>
            <a:r>
              <a:rPr lang="en-US" sz="2800" b="1" dirty="0">
                <a:solidFill>
                  <a:srgbClr val="FFFFFF"/>
                </a:solidFill>
              </a:rPr>
              <a:t>GERENCIAL PARA GESTIÓN</a:t>
            </a:r>
            <a:endParaRPr lang="en-US" sz="2800" dirty="0"/>
          </a:p>
          <a:p>
            <a:pPr marL="0" indent="0" algn="l">
              <a:buNone/>
            </a:pPr>
            <a:r>
              <a:rPr lang="en-US" sz="2800" b="1" dirty="0">
                <a:solidFill>
                  <a:srgbClr val="FFFFFF"/>
                </a:solidFill>
              </a:rPr>
              <a:t>DE CITAS MÉDICAS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3749040" y="2880360"/>
            <a:ext cx="5120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02C39A"/>
                </a:solidFill>
              </a:rPr>
              <a:t>Transformación de Datos Transaccionales en Ventaja Competitiva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3749040" y="3520440"/>
            <a:ext cx="5120640" cy="22860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11" name="Text 9"/>
          <p:cNvSpPr/>
          <p:nvPr/>
        </p:nvSpPr>
        <p:spPr>
          <a:xfrm>
            <a:off x="3749040" y="3611880"/>
            <a:ext cx="51206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</a:rPr>
              <a:t>ISID223 - Introducción a los Sistemas de Información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</a:rPr>
              <a:t>Prof. Iván Carrera  |  Primer Bimestre 2026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3749040" y="434340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1C7293"/>
                </a:solidFill>
              </a:rPr>
              <a:t>30,000 citas  ·  15,000 pacientes  ·  500 médicos  ·  12 especialidades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0" y="5088636"/>
            <a:ext cx="9144000" cy="54864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  <p:txBody>
          <a:bodyPr/>
          <a:lstStyle/>
          <a:p>
            <a:endParaRPr lang="es-EC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0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046720" y="164592"/>
            <a:ext cx="822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2800" b="1" dirty="0">
                <a:solidFill>
                  <a:srgbClr val="065A82">
                    <a:alpha val="70000"/>
                  </a:srgbClr>
                </a:solidFill>
              </a:rPr>
              <a:t>02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64592"/>
            <a:ext cx="6858000" cy="9326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kern="0" spc="200" dirty="0">
                <a:solidFill>
                  <a:srgbClr val="02C39A"/>
                </a:solidFill>
              </a:rPr>
              <a:t>IDENTIFICACIÓN DEL PROBLEMA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234440"/>
            <a:ext cx="4023360" cy="1508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C"/>
          </a:p>
        </p:txBody>
      </p:sp>
      <p:sp>
        <p:nvSpPr>
          <p:cNvPr id="6" name="Shape 4"/>
          <p:cNvSpPr/>
          <p:nvPr/>
        </p:nvSpPr>
        <p:spPr>
          <a:xfrm>
            <a:off x="365760" y="1234440"/>
            <a:ext cx="64008" cy="1508760"/>
          </a:xfrm>
          <a:prstGeom prst="rect">
            <a:avLst/>
          </a:prstGeom>
          <a:solidFill>
            <a:srgbClr val="D62828"/>
          </a:solidFill>
          <a:ln w="12700">
            <a:solidFill>
              <a:srgbClr val="D62828"/>
            </a:solidFill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7" name="Shape 5"/>
          <p:cNvSpPr/>
          <p:nvPr/>
        </p:nvSpPr>
        <p:spPr>
          <a:xfrm>
            <a:off x="530352" y="1435608"/>
            <a:ext cx="457200" cy="457200"/>
          </a:xfrm>
          <a:prstGeom prst="ellipse">
            <a:avLst/>
          </a:prstGeom>
          <a:solidFill>
            <a:srgbClr val="D62828"/>
          </a:solidFill>
          <a:ln w="12700">
            <a:solidFill>
              <a:srgbClr val="D62828"/>
            </a:solidFill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8" name="Text 6"/>
          <p:cNvSpPr/>
          <p:nvPr/>
        </p:nvSpPr>
        <p:spPr>
          <a:xfrm>
            <a:off x="530352" y="14356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?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078992" y="1399032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93B"/>
                </a:solidFill>
              </a:rPr>
              <a:t>Ceguera Operativa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987552" y="1659636"/>
            <a:ext cx="3200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</a:rPr>
              <a:t>Miles de citas registradas sin ningún análisis. La gerencia desconoce sus especialidades más demandadas, el desempeño de sus médicos y los patrones reales de demanda.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572000" y="1234440"/>
            <a:ext cx="4023360" cy="1508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C" sz="2400"/>
          </a:p>
        </p:txBody>
      </p:sp>
      <p:sp>
        <p:nvSpPr>
          <p:cNvPr id="12" name="Shape 10"/>
          <p:cNvSpPr/>
          <p:nvPr/>
        </p:nvSpPr>
        <p:spPr>
          <a:xfrm>
            <a:off x="4572000" y="1234440"/>
            <a:ext cx="64008" cy="150876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13" name="Shape 11"/>
          <p:cNvSpPr/>
          <p:nvPr/>
        </p:nvSpPr>
        <p:spPr>
          <a:xfrm>
            <a:off x="4736592" y="1435608"/>
            <a:ext cx="457200" cy="457200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14" name="Text 12"/>
          <p:cNvSpPr/>
          <p:nvPr/>
        </p:nvSpPr>
        <p:spPr>
          <a:xfrm>
            <a:off x="4736592" y="14356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$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5285232" y="1399032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93B"/>
                </a:solidFill>
              </a:rPr>
              <a:t>Fuga de Capital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5285232" y="1737360"/>
            <a:ext cx="3200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</a:rPr>
              <a:t>1,084 eventos de No Asistió detectados en el período. Equivalen a $27,100 en ingresos perdidos sin mecanismo alguno de recuperación o penalización.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365760" y="2880360"/>
            <a:ext cx="4023360" cy="1508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C" sz="2800"/>
          </a:p>
        </p:txBody>
      </p:sp>
      <p:sp>
        <p:nvSpPr>
          <p:cNvPr id="18" name="Shape 16"/>
          <p:cNvSpPr/>
          <p:nvPr/>
        </p:nvSpPr>
        <p:spPr>
          <a:xfrm>
            <a:off x="365760" y="2880360"/>
            <a:ext cx="64008" cy="150876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19" name="Shape 17"/>
          <p:cNvSpPr/>
          <p:nvPr/>
        </p:nvSpPr>
        <p:spPr>
          <a:xfrm>
            <a:off x="530352" y="3081528"/>
            <a:ext cx="457200" cy="457200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20" name="Text 18"/>
          <p:cNvSpPr/>
          <p:nvPr/>
        </p:nvSpPr>
        <p:spPr>
          <a:xfrm>
            <a:off x="530352" y="30815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!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1078992" y="3044952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93B"/>
                </a:solidFill>
              </a:rPr>
              <a:t>Decisiones Intuitivas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78992" y="3383280"/>
            <a:ext cx="3200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</a:rPr>
              <a:t>Asignación de médicos, presupuesto y especialidades sin fundamento en datos históricos. El riesgo de error es alto y costoso para la institución.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4572000" y="2880360"/>
            <a:ext cx="4023360" cy="1508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C" sz="3600"/>
          </a:p>
        </p:txBody>
      </p:sp>
      <p:sp>
        <p:nvSpPr>
          <p:cNvPr id="24" name="Shape 22"/>
          <p:cNvSpPr/>
          <p:nvPr/>
        </p:nvSpPr>
        <p:spPr>
          <a:xfrm>
            <a:off x="4572000" y="2880360"/>
            <a:ext cx="64008" cy="1508760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25" name="Shape 23"/>
          <p:cNvSpPr/>
          <p:nvPr/>
        </p:nvSpPr>
        <p:spPr>
          <a:xfrm>
            <a:off x="4736592" y="3081528"/>
            <a:ext cx="457200" cy="457200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26" name="Text 24"/>
          <p:cNvSpPr/>
          <p:nvPr/>
        </p:nvSpPr>
        <p:spPr>
          <a:xfrm>
            <a:off x="4736592" y="30815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≈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5285232" y="3044952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93B"/>
                </a:solidFill>
              </a:rPr>
              <a:t>Sin Métricas de Control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5285232" y="3383280"/>
            <a:ext cx="3200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</a:rPr>
              <a:t>No existen KPIs, reportes gerenciales ni indicadores de carga laboral médica. Es imposible evaluar desempeño o planificar capacidad futura.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365760" y="4526280"/>
            <a:ext cx="8412480" cy="41148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30" name="Text 28"/>
          <p:cNvSpPr/>
          <p:nvPr/>
        </p:nvSpPr>
        <p:spPr>
          <a:xfrm>
            <a:off x="365760" y="4526280"/>
            <a:ext cx="8412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</a:rPr>
              <a:t>IMPACTO DIRECTO: $27,100 anuales en pérdidas recuperables + ausencia total de visibilidad gerencial del negocio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0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046720" y="164592"/>
            <a:ext cx="822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2800" b="1" dirty="0">
                <a:solidFill>
                  <a:srgbClr val="065A82">
                    <a:alpha val="70000"/>
                  </a:srgbClr>
                </a:solidFill>
              </a:rPr>
              <a:t>03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64592"/>
            <a:ext cx="6858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02C39A"/>
                </a:solidFill>
              </a:rPr>
              <a:t>DIRECCIÓN ESTRATÉGICA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566928"/>
            <a:ext cx="8046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93B"/>
                </a:solidFill>
              </a:rPr>
              <a:t>Misión, Visión y Objetivos Estratégicos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365760" y="1207008"/>
            <a:ext cx="4160520" cy="141732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C"/>
          </a:p>
        </p:txBody>
      </p:sp>
      <p:sp>
        <p:nvSpPr>
          <p:cNvPr id="6" name="Text 4"/>
          <p:cNvSpPr/>
          <p:nvPr/>
        </p:nvSpPr>
        <p:spPr>
          <a:xfrm>
            <a:off x="502920" y="1261872"/>
            <a:ext cx="3886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kern="0" spc="200" dirty="0">
                <a:solidFill>
                  <a:srgbClr val="02C39A"/>
                </a:solidFill>
              </a:rPr>
              <a:t>MISIÓN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02920" y="1536192"/>
            <a:ext cx="38862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</a:rPr>
              <a:t>Proveer a las instituciones de salud una plataforma integral de gestión de citas médicas que integre datos operacionales en tiempo real, facilitando decisiones basadas en evidencia para optimizar recursos y garantizar la satisfacción del paciente.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617720" y="1207008"/>
            <a:ext cx="4160520" cy="1417320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C"/>
          </a:p>
        </p:txBody>
      </p:sp>
      <p:sp>
        <p:nvSpPr>
          <p:cNvPr id="9" name="Text 7"/>
          <p:cNvSpPr/>
          <p:nvPr/>
        </p:nvSpPr>
        <p:spPr>
          <a:xfrm>
            <a:off x="4754880" y="1261872"/>
            <a:ext cx="3886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kern="0" spc="200" dirty="0">
                <a:solidFill>
                  <a:srgbClr val="02C39A"/>
                </a:solidFill>
              </a:rPr>
              <a:t>VISIÓN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754880" y="1536192"/>
            <a:ext cx="38862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</a:rPr>
              <a:t>Ser la </a:t>
            </a:r>
            <a:r>
              <a:rPr lang="en-US" sz="1400" dirty="0" err="1">
                <a:solidFill>
                  <a:srgbClr val="FFFFFF"/>
                </a:solidFill>
              </a:rPr>
              <a:t>solución</a:t>
            </a:r>
            <a:r>
              <a:rPr lang="en-US" sz="1400" dirty="0">
                <a:solidFill>
                  <a:srgbClr val="FFFFFF"/>
                </a:solidFill>
              </a:rPr>
              <a:t> </a:t>
            </a:r>
            <a:r>
              <a:rPr lang="en-US" sz="1400" dirty="0" err="1">
                <a:solidFill>
                  <a:srgbClr val="FFFFFF"/>
                </a:solidFill>
              </a:rPr>
              <a:t>líder</a:t>
            </a:r>
            <a:r>
              <a:rPr lang="en-US" sz="1400" dirty="0">
                <a:solidFill>
                  <a:srgbClr val="FFFFFF"/>
                </a:solidFill>
              </a:rPr>
              <a:t> para instituciones de salud que transforman su operación transaccional en un negocio impulsado por datos, generando valor sostenible mediante inteligencia operacional y análisis predictivo.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65760" y="2743200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64748B"/>
                </a:solidFill>
              </a:rPr>
              <a:t>OBJETIVOS ESTRATÉGICOS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365760" y="3090672"/>
            <a:ext cx="192024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C"/>
          </a:p>
        </p:txBody>
      </p:sp>
      <p:sp>
        <p:nvSpPr>
          <p:cNvPr id="13" name="Shape 11"/>
          <p:cNvSpPr/>
          <p:nvPr/>
        </p:nvSpPr>
        <p:spPr>
          <a:xfrm>
            <a:off x="365760" y="3090672"/>
            <a:ext cx="1920240" cy="411480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14" name="Text 12"/>
          <p:cNvSpPr/>
          <p:nvPr/>
        </p:nvSpPr>
        <p:spPr>
          <a:xfrm>
            <a:off x="365760" y="3090672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21526"/>
                </a:solidFill>
              </a:rPr>
              <a:t>01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457200" y="3547872"/>
            <a:ext cx="1737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E293B"/>
                </a:solidFill>
              </a:rPr>
              <a:t>Efectividad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1E293B"/>
                </a:solidFill>
              </a:rPr>
              <a:t>≥ 70% de citas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1E293B"/>
                </a:solidFill>
              </a:rPr>
              <a:t>atendidas en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1E293B"/>
                </a:solidFill>
              </a:rPr>
              <a:t>6 meses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2468880" y="3090672"/>
            <a:ext cx="192024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C"/>
          </a:p>
        </p:txBody>
      </p:sp>
      <p:sp>
        <p:nvSpPr>
          <p:cNvPr id="17" name="Shape 15"/>
          <p:cNvSpPr/>
          <p:nvPr/>
        </p:nvSpPr>
        <p:spPr>
          <a:xfrm>
            <a:off x="2468880" y="3090672"/>
            <a:ext cx="1920240" cy="411480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18" name="Text 16"/>
          <p:cNvSpPr/>
          <p:nvPr/>
        </p:nvSpPr>
        <p:spPr>
          <a:xfrm>
            <a:off x="2468880" y="3090672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21526"/>
                </a:solidFill>
              </a:rPr>
              <a:t>02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2560320" y="3547872"/>
            <a:ext cx="1737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E293B"/>
                </a:solidFill>
              </a:rPr>
              <a:t>Reducir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1E293B"/>
                </a:solidFill>
              </a:rPr>
              <a:t>inasistencias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1E293B"/>
                </a:solidFill>
              </a:rPr>
              <a:t>a menos del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1E293B"/>
                </a:solidFill>
              </a:rPr>
              <a:t>8%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572000" y="3090672"/>
            <a:ext cx="192024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C"/>
          </a:p>
        </p:txBody>
      </p:sp>
      <p:sp>
        <p:nvSpPr>
          <p:cNvPr id="21" name="Shape 19"/>
          <p:cNvSpPr/>
          <p:nvPr/>
        </p:nvSpPr>
        <p:spPr>
          <a:xfrm>
            <a:off x="4572000" y="3090672"/>
            <a:ext cx="1920240" cy="411480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22" name="Text 20"/>
          <p:cNvSpPr/>
          <p:nvPr/>
        </p:nvSpPr>
        <p:spPr>
          <a:xfrm>
            <a:off x="4572000" y="3090672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21526"/>
                </a:solidFill>
              </a:rPr>
              <a:t>03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4663440" y="3547872"/>
            <a:ext cx="1737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E293B"/>
                </a:solidFill>
              </a:rPr>
              <a:t>Identificar top 3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1E293B"/>
                </a:solidFill>
              </a:rPr>
              <a:t>especialidades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1E293B"/>
                </a:solidFill>
              </a:rPr>
              <a:t>para inversión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1E293B"/>
                </a:solidFill>
              </a:rPr>
              <a:t>estratégica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6675120" y="3090672"/>
            <a:ext cx="192024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C"/>
          </a:p>
        </p:txBody>
      </p:sp>
      <p:sp>
        <p:nvSpPr>
          <p:cNvPr id="25" name="Shape 23"/>
          <p:cNvSpPr/>
          <p:nvPr/>
        </p:nvSpPr>
        <p:spPr>
          <a:xfrm>
            <a:off x="6675120" y="3090672"/>
            <a:ext cx="1920240" cy="411480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26" name="Text 24"/>
          <p:cNvSpPr/>
          <p:nvPr/>
        </p:nvSpPr>
        <p:spPr>
          <a:xfrm>
            <a:off x="6675120" y="3090672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21526"/>
                </a:solidFill>
              </a:rPr>
              <a:t>04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6766560" y="3547872"/>
            <a:ext cx="1737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E293B"/>
                </a:solidFill>
              </a:rPr>
              <a:t>Recuperar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1E293B"/>
                </a:solidFill>
              </a:rPr>
              <a:t>$27,100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1E293B"/>
                </a:solidFill>
              </a:rPr>
              <a:t>anuales en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1E293B"/>
                </a:solidFill>
              </a:rPr>
              <a:t>multas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0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046720" y="164592"/>
            <a:ext cx="822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2800" b="1" dirty="0">
                <a:solidFill>
                  <a:srgbClr val="065A82">
                    <a:alpha val="70000"/>
                  </a:srgbClr>
                </a:solidFill>
              </a:rPr>
              <a:t>04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64592"/>
            <a:ext cx="6858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02C39A"/>
                </a:solidFill>
              </a:rPr>
              <a:t>ESTRATEGIA COMPETITIVA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566928"/>
            <a:ext cx="8046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93B"/>
                </a:solidFill>
              </a:rPr>
              <a:t>Tipos de Ventaja Competitiva del MIS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365760" y="1188720"/>
            <a:ext cx="4114800" cy="347472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C"/>
          </a:p>
        </p:txBody>
      </p:sp>
      <p:sp>
        <p:nvSpPr>
          <p:cNvPr id="6" name="Text 4"/>
          <p:cNvSpPr/>
          <p:nvPr/>
        </p:nvSpPr>
        <p:spPr>
          <a:xfrm>
            <a:off x="548640" y="1298448"/>
            <a:ext cx="3749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300" dirty="0">
                <a:solidFill>
                  <a:srgbClr val="02C39A"/>
                </a:solidFill>
              </a:rPr>
              <a:t>TIPO 1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548640" y="1536192"/>
            <a:ext cx="37490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</a:rPr>
              <a:t>Ventaja por</a:t>
            </a:r>
            <a:endParaRPr lang="en-US" sz="2200" dirty="0"/>
          </a:p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</a:rPr>
              <a:t>Diferenciación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548640" y="2267712"/>
            <a:ext cx="3749040" cy="22860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9" name="Shape 7"/>
          <p:cNvSpPr/>
          <p:nvPr/>
        </p:nvSpPr>
        <p:spPr>
          <a:xfrm>
            <a:off x="548640" y="2395728"/>
            <a:ext cx="201168" cy="201168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10" name="Text 8"/>
          <p:cNvSpPr/>
          <p:nvPr/>
        </p:nvSpPr>
        <p:spPr>
          <a:xfrm>
            <a:off x="841248" y="2359152"/>
            <a:ext cx="345643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</a:rPr>
              <a:t>Dashboard en </a:t>
            </a:r>
            <a:r>
              <a:rPr lang="en-US" sz="1000" dirty="0" err="1">
                <a:solidFill>
                  <a:srgbClr val="FFFFFF"/>
                </a:solidFill>
              </a:rPr>
              <a:t>tiempo</a:t>
            </a:r>
            <a:r>
              <a:rPr lang="en-US" sz="1000" dirty="0">
                <a:solidFill>
                  <a:srgbClr val="FFFFFF"/>
                </a:solidFill>
              </a:rPr>
              <a:t> real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48640" y="2825496"/>
            <a:ext cx="201168" cy="201168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12" name="Text 10"/>
          <p:cNvSpPr/>
          <p:nvPr/>
        </p:nvSpPr>
        <p:spPr>
          <a:xfrm>
            <a:off x="841248" y="2788920"/>
            <a:ext cx="345643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</a:rPr>
              <a:t>Sistema automatizado de </a:t>
            </a:r>
            <a:r>
              <a:rPr lang="en-US" sz="1000" dirty="0" err="1">
                <a:solidFill>
                  <a:srgbClr val="FFFFFF"/>
                </a:solidFill>
              </a:rPr>
              <a:t>multas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48640" y="3255264"/>
            <a:ext cx="201168" cy="201168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14" name="Text 12"/>
          <p:cNvSpPr/>
          <p:nvPr/>
        </p:nvSpPr>
        <p:spPr>
          <a:xfrm>
            <a:off x="841248" y="3218688"/>
            <a:ext cx="345643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</a:rPr>
              <a:t>Análisis de 30,000 citas con 8 KPIs ejecutivos integrados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48640" y="3685032"/>
            <a:ext cx="201168" cy="201168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16" name="Text 14"/>
          <p:cNvSpPr/>
          <p:nvPr/>
        </p:nvSpPr>
        <p:spPr>
          <a:xfrm>
            <a:off x="841248" y="3648456"/>
            <a:ext cx="345643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</a:rPr>
              <a:t>Demografía predictiva para segmentar servicios al paciente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48640" y="4114800"/>
            <a:ext cx="201168" cy="201168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18" name="Text 16"/>
          <p:cNvSpPr/>
          <p:nvPr/>
        </p:nvSpPr>
        <p:spPr>
          <a:xfrm>
            <a:off x="841248" y="4078224"/>
            <a:ext cx="345643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</a:rPr>
              <a:t>Excelencia operacional basada en datos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663440" y="1188720"/>
            <a:ext cx="4114800" cy="3474720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C"/>
          </a:p>
        </p:txBody>
      </p:sp>
      <p:sp>
        <p:nvSpPr>
          <p:cNvPr id="20" name="Text 18"/>
          <p:cNvSpPr/>
          <p:nvPr/>
        </p:nvSpPr>
        <p:spPr>
          <a:xfrm>
            <a:off x="4846320" y="1298448"/>
            <a:ext cx="3749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300" dirty="0">
                <a:solidFill>
                  <a:srgbClr val="02C39A"/>
                </a:solidFill>
              </a:rPr>
              <a:t>TIPO 2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4846320" y="1536192"/>
            <a:ext cx="37490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</a:rPr>
              <a:t>Ventaja por</a:t>
            </a:r>
            <a:endParaRPr lang="en-US" sz="2200" dirty="0"/>
          </a:p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</a:rPr>
              <a:t>Reducción de Costos</a:t>
            </a:r>
            <a:endParaRPr lang="en-US" sz="2200" dirty="0"/>
          </a:p>
        </p:txBody>
      </p:sp>
      <p:sp>
        <p:nvSpPr>
          <p:cNvPr id="22" name="Shape 20"/>
          <p:cNvSpPr/>
          <p:nvPr/>
        </p:nvSpPr>
        <p:spPr>
          <a:xfrm>
            <a:off x="4846320" y="2267712"/>
            <a:ext cx="3749040" cy="22860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23" name="Shape 21"/>
          <p:cNvSpPr/>
          <p:nvPr/>
        </p:nvSpPr>
        <p:spPr>
          <a:xfrm>
            <a:off x="4846320" y="2395728"/>
            <a:ext cx="201168" cy="201168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24" name="Text 22"/>
          <p:cNvSpPr/>
          <p:nvPr/>
        </p:nvSpPr>
        <p:spPr>
          <a:xfrm>
            <a:off x="5138928" y="2359152"/>
            <a:ext cx="345643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</a:rPr>
              <a:t>Automatiza reportería manual: ahorra 40+ horas al mes en administración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846320" y="2825496"/>
            <a:ext cx="201168" cy="201168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26" name="Text 24"/>
          <p:cNvSpPr/>
          <p:nvPr/>
        </p:nvSpPr>
        <p:spPr>
          <a:xfrm>
            <a:off x="5138928" y="2788920"/>
            <a:ext cx="345643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</a:rPr>
              <a:t>Elimina jornadas médicas improductivas detectadas por KPI de carga laboral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4846320" y="3255264"/>
            <a:ext cx="201168" cy="201168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28" name="Text 26"/>
          <p:cNvSpPr/>
          <p:nvPr/>
        </p:nvSpPr>
        <p:spPr>
          <a:xfrm>
            <a:off x="5138928" y="3218688"/>
            <a:ext cx="345643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</a:rPr>
              <a:t>$27,100 anuales recuperados por sistema de multas por inasistencia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4846320" y="3685032"/>
            <a:ext cx="201168" cy="201168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30" name="Text 28"/>
          <p:cNvSpPr/>
          <p:nvPr/>
        </p:nvSpPr>
        <p:spPr>
          <a:xfrm>
            <a:off x="5138928" y="3648456"/>
            <a:ext cx="345643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</a:rPr>
              <a:t>Evita compra de ERP propietario ($30,000–$50,000) con solución propia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4846320" y="4114800"/>
            <a:ext cx="201168" cy="201168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32" name="Text 30"/>
          <p:cNvSpPr/>
          <p:nvPr/>
        </p:nvSpPr>
        <p:spPr>
          <a:xfrm>
            <a:off x="5138928" y="4078224"/>
            <a:ext cx="345643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</a:rPr>
              <a:t>Planning proactivo que reduce costos de contratación reactiva de médicos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0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046720" y="164592"/>
            <a:ext cx="822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2800" b="1" dirty="0">
                <a:solidFill>
                  <a:srgbClr val="065A82">
                    <a:alpha val="70000"/>
                  </a:srgbClr>
                </a:solidFill>
              </a:rPr>
              <a:t>06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64592"/>
            <a:ext cx="6858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02C39A"/>
                </a:solidFill>
              </a:rPr>
              <a:t>RESULTADOS DEL ANÁLISIS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566928"/>
            <a:ext cx="8046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93B"/>
                </a:solidFill>
              </a:rPr>
              <a:t>8 KPIs calculados sobre datos reales del sistema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365760" y="1207008"/>
            <a:ext cx="192024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C"/>
          </a:p>
        </p:txBody>
      </p:sp>
      <p:sp>
        <p:nvSpPr>
          <p:cNvPr id="6" name="Shape 4"/>
          <p:cNvSpPr/>
          <p:nvPr/>
        </p:nvSpPr>
        <p:spPr>
          <a:xfrm>
            <a:off x="365760" y="1207008"/>
            <a:ext cx="64008" cy="1417320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7" name="Text 5"/>
          <p:cNvSpPr/>
          <p:nvPr/>
        </p:nvSpPr>
        <p:spPr>
          <a:xfrm>
            <a:off x="475488" y="1261872"/>
            <a:ext cx="1719072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22C55E"/>
                </a:solidFill>
              </a:rPr>
              <a:t>79.6%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475488" y="1847088"/>
            <a:ext cx="171907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E293B"/>
                </a:solidFill>
              </a:rPr>
              <a:t>KPI 1: Tasa de</a:t>
            </a:r>
            <a:endParaRPr lang="en-US" sz="950" dirty="0"/>
          </a:p>
          <a:p>
            <a:pPr marL="0" indent="0">
              <a:buNone/>
            </a:pPr>
            <a:r>
              <a:rPr lang="en-US" sz="950" b="1" dirty="0">
                <a:solidFill>
                  <a:srgbClr val="1E293B"/>
                </a:solidFill>
              </a:rPr>
              <a:t>Efectividad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475488" y="2267712"/>
            <a:ext cx="171907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64748B"/>
                </a:solidFill>
              </a:rPr>
              <a:t>Meta ≥ 85%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2468880" y="1207008"/>
            <a:ext cx="192024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C"/>
          </a:p>
        </p:txBody>
      </p:sp>
      <p:sp>
        <p:nvSpPr>
          <p:cNvPr id="11" name="Shape 9"/>
          <p:cNvSpPr/>
          <p:nvPr/>
        </p:nvSpPr>
        <p:spPr>
          <a:xfrm>
            <a:off x="2468880" y="1207008"/>
            <a:ext cx="64008" cy="141732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12" name="Text 10"/>
          <p:cNvSpPr/>
          <p:nvPr/>
        </p:nvSpPr>
        <p:spPr>
          <a:xfrm>
            <a:off x="2578608" y="1261872"/>
            <a:ext cx="1719072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65A82"/>
                </a:solidFill>
              </a:rPr>
              <a:t>9.0%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2578608" y="1847088"/>
            <a:ext cx="171907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E293B"/>
                </a:solidFill>
              </a:rPr>
              <a:t>KPI 2: Tasa de</a:t>
            </a:r>
            <a:endParaRPr lang="en-US" sz="950" dirty="0"/>
          </a:p>
          <a:p>
            <a:pPr marL="0" indent="0">
              <a:buNone/>
            </a:pPr>
            <a:r>
              <a:rPr lang="en-US" sz="950" b="1" dirty="0">
                <a:solidFill>
                  <a:srgbClr val="1E293B"/>
                </a:solidFill>
              </a:rPr>
              <a:t>Pérdidas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2578608" y="2267712"/>
            <a:ext cx="171907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64748B"/>
                </a:solidFill>
              </a:rPr>
              <a:t>Meta ≤ 15% ✓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4572000" y="1207008"/>
            <a:ext cx="192024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C"/>
          </a:p>
        </p:txBody>
      </p:sp>
      <p:sp>
        <p:nvSpPr>
          <p:cNvPr id="16" name="Shape 14"/>
          <p:cNvSpPr/>
          <p:nvPr/>
        </p:nvSpPr>
        <p:spPr>
          <a:xfrm>
            <a:off x="4572000" y="1207008"/>
            <a:ext cx="64008" cy="141732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17" name="Text 15"/>
          <p:cNvSpPr/>
          <p:nvPr/>
        </p:nvSpPr>
        <p:spPr>
          <a:xfrm>
            <a:off x="4681728" y="1261872"/>
            <a:ext cx="1719072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59E0B"/>
                </a:solidFill>
              </a:rPr>
              <a:t>$27,100</a:t>
            </a:r>
            <a:endParaRPr lang="en-US" sz="2600" dirty="0"/>
          </a:p>
        </p:txBody>
      </p:sp>
      <p:sp>
        <p:nvSpPr>
          <p:cNvPr id="18" name="Text 16"/>
          <p:cNvSpPr/>
          <p:nvPr/>
        </p:nvSpPr>
        <p:spPr>
          <a:xfrm>
            <a:off x="4681728" y="1847088"/>
            <a:ext cx="171907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E293B"/>
                </a:solidFill>
              </a:rPr>
              <a:t>KPI 5: Ingresos</a:t>
            </a:r>
            <a:endParaRPr lang="en-US" sz="950" dirty="0"/>
          </a:p>
          <a:p>
            <a:pPr marL="0" indent="0">
              <a:buNone/>
            </a:pPr>
            <a:r>
              <a:rPr lang="en-US" sz="950" b="1" dirty="0">
                <a:solidFill>
                  <a:srgbClr val="1E293B"/>
                </a:solidFill>
              </a:rPr>
              <a:t>Recuperables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4681728" y="2267712"/>
            <a:ext cx="171907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64748B"/>
                </a:solidFill>
              </a:rPr>
              <a:t>por multas/año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6675120" y="1207008"/>
            <a:ext cx="192024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C"/>
          </a:p>
        </p:txBody>
      </p:sp>
      <p:sp>
        <p:nvSpPr>
          <p:cNvPr id="21" name="Shape 19"/>
          <p:cNvSpPr/>
          <p:nvPr/>
        </p:nvSpPr>
        <p:spPr>
          <a:xfrm>
            <a:off x="6675120" y="1207008"/>
            <a:ext cx="64008" cy="1417320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22" name="Text 20"/>
          <p:cNvSpPr/>
          <p:nvPr/>
        </p:nvSpPr>
        <p:spPr>
          <a:xfrm>
            <a:off x="6784848" y="1261872"/>
            <a:ext cx="1719072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C7293"/>
                </a:solidFill>
              </a:rPr>
              <a:t>30,000</a:t>
            </a:r>
            <a:endParaRPr lang="en-US" sz="2600" dirty="0"/>
          </a:p>
        </p:txBody>
      </p:sp>
      <p:sp>
        <p:nvSpPr>
          <p:cNvPr id="23" name="Text 21"/>
          <p:cNvSpPr/>
          <p:nvPr/>
        </p:nvSpPr>
        <p:spPr>
          <a:xfrm>
            <a:off x="6784848" y="1847088"/>
            <a:ext cx="171907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E293B"/>
                </a:solidFill>
              </a:rPr>
              <a:t>KPI 6: Total</a:t>
            </a:r>
            <a:endParaRPr lang="en-US" sz="950" dirty="0"/>
          </a:p>
          <a:p>
            <a:pPr marL="0" indent="0">
              <a:buNone/>
            </a:pPr>
            <a:r>
              <a:rPr lang="en-US" sz="950" b="1" dirty="0">
                <a:solidFill>
                  <a:srgbClr val="1E293B"/>
                </a:solidFill>
              </a:rPr>
              <a:t>de Citas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6784848" y="2267712"/>
            <a:ext cx="171907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64748B"/>
                </a:solidFill>
              </a:rPr>
              <a:t>en 12 meses</a:t>
            </a:r>
            <a:endParaRPr lang="en-US" sz="850" dirty="0"/>
          </a:p>
        </p:txBody>
      </p:sp>
      <p:graphicFrame>
        <p:nvGraphicFramePr>
          <p:cNvPr id="25" name="Chart 0"/>
          <p:cNvGraphicFramePr/>
          <p:nvPr/>
        </p:nvGraphicFramePr>
        <p:xfrm>
          <a:off x="365760" y="2788920"/>
          <a:ext cx="4114800" cy="21031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26" name="Chart 1"/>
          <p:cNvGraphicFramePr/>
          <p:nvPr/>
        </p:nvGraphicFramePr>
        <p:xfrm>
          <a:off x="4663440" y="2788920"/>
          <a:ext cx="4114800" cy="21031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pic>
        <p:nvPicPr>
          <p:cNvPr id="28" name="Imagen 27">
            <a:extLst>
              <a:ext uri="{FF2B5EF4-FFF2-40B4-BE49-F238E27FC236}">
                <a16:creationId xmlns:a16="http://schemas.microsoft.com/office/drawing/2014/main" id="{26893913-B541-3ED4-6F90-1A05FD7B084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80009" y="2843784"/>
            <a:ext cx="2604409" cy="2000212"/>
          </a:xfrm>
          <a:prstGeom prst="rect">
            <a:avLst/>
          </a:prstGeom>
        </p:spPr>
      </p:pic>
      <p:pic>
        <p:nvPicPr>
          <p:cNvPr id="30" name="Imagen 29">
            <a:extLst>
              <a:ext uri="{FF2B5EF4-FFF2-40B4-BE49-F238E27FC236}">
                <a16:creationId xmlns:a16="http://schemas.microsoft.com/office/drawing/2014/main" id="{40A826CA-C027-A190-2F8F-8BC22F3F291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77046" y="2843784"/>
            <a:ext cx="3875117" cy="1953836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0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046720" y="164592"/>
            <a:ext cx="822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2800" b="1" dirty="0">
                <a:solidFill>
                  <a:srgbClr val="065A82">
                    <a:alpha val="70000"/>
                  </a:srgbClr>
                </a:solidFill>
              </a:rPr>
              <a:t>07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64592"/>
            <a:ext cx="6858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02C39A"/>
                </a:solidFill>
              </a:rPr>
              <a:t>EVOLUCIÓN DE DEMANDA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566928"/>
            <a:ext cx="8046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E293B"/>
                </a:solidFill>
              </a:rPr>
              <a:t>KPI 6: Tendencia mensual de citas programadas — datos reales del TPS</a:t>
            </a:r>
            <a:endParaRPr lang="en-US" sz="2000" dirty="0"/>
          </a:p>
        </p:txBody>
      </p:sp>
      <p:graphicFrame>
        <p:nvGraphicFramePr>
          <p:cNvPr id="5" name="Chart 0"/>
          <p:cNvGraphicFramePr/>
          <p:nvPr/>
        </p:nvGraphicFramePr>
        <p:xfrm>
          <a:off x="365760" y="1188720"/>
          <a:ext cx="6400800" cy="35661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6" name="Shape 3"/>
          <p:cNvSpPr/>
          <p:nvPr/>
        </p:nvSpPr>
        <p:spPr>
          <a:xfrm>
            <a:off x="6949440" y="1325880"/>
            <a:ext cx="182880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C"/>
          </a:p>
        </p:txBody>
      </p:sp>
      <p:sp>
        <p:nvSpPr>
          <p:cNvPr id="7" name="Shape 4"/>
          <p:cNvSpPr/>
          <p:nvPr/>
        </p:nvSpPr>
        <p:spPr>
          <a:xfrm>
            <a:off x="6949440" y="1325880"/>
            <a:ext cx="1828800" cy="73152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8" name="Text 5"/>
          <p:cNvSpPr/>
          <p:nvPr/>
        </p:nvSpPr>
        <p:spPr>
          <a:xfrm>
            <a:off x="6995160" y="1444752"/>
            <a:ext cx="1737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65A82"/>
                </a:solidFill>
              </a:rPr>
              <a:t>4,500</a:t>
            </a:r>
            <a:endParaRPr lang="en-US" sz="2200" dirty="0"/>
          </a:p>
        </p:txBody>
      </p:sp>
      <p:sp>
        <p:nvSpPr>
          <p:cNvPr id="9" name="Text 6"/>
          <p:cNvSpPr/>
          <p:nvPr/>
        </p:nvSpPr>
        <p:spPr>
          <a:xfrm>
            <a:off x="6995160" y="1874520"/>
            <a:ext cx="17373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kern="0" spc="100" dirty="0">
                <a:solidFill>
                  <a:srgbClr val="64748B"/>
                </a:solidFill>
              </a:rPr>
              <a:t>Pico</a:t>
            </a:r>
            <a:endParaRPr lang="en-US" sz="850" dirty="0"/>
          </a:p>
        </p:txBody>
      </p:sp>
      <p:sp>
        <p:nvSpPr>
          <p:cNvPr id="10" name="Text 7"/>
          <p:cNvSpPr/>
          <p:nvPr/>
        </p:nvSpPr>
        <p:spPr>
          <a:xfrm>
            <a:off x="6995160" y="2057400"/>
            <a:ext cx="17373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64748B"/>
                </a:solidFill>
              </a:rPr>
              <a:t>Enero 2027</a:t>
            </a:r>
            <a:endParaRPr lang="en-US" sz="850" dirty="0"/>
          </a:p>
        </p:txBody>
      </p:sp>
      <p:sp>
        <p:nvSpPr>
          <p:cNvPr id="11" name="Shape 8"/>
          <p:cNvSpPr/>
          <p:nvPr/>
        </p:nvSpPr>
        <p:spPr>
          <a:xfrm>
            <a:off x="6949440" y="2468880"/>
            <a:ext cx="182880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C"/>
          </a:p>
        </p:txBody>
      </p:sp>
      <p:sp>
        <p:nvSpPr>
          <p:cNvPr id="12" name="Shape 9"/>
          <p:cNvSpPr/>
          <p:nvPr/>
        </p:nvSpPr>
        <p:spPr>
          <a:xfrm>
            <a:off x="6949440" y="2468880"/>
            <a:ext cx="1828800" cy="73152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13" name="Text 10"/>
          <p:cNvSpPr/>
          <p:nvPr/>
        </p:nvSpPr>
        <p:spPr>
          <a:xfrm>
            <a:off x="6995160" y="2587752"/>
            <a:ext cx="1737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65A82"/>
                </a:solidFill>
              </a:rPr>
              <a:t>+10,381%</a:t>
            </a:r>
            <a:endParaRPr lang="en-US" sz="2200" dirty="0"/>
          </a:p>
        </p:txBody>
      </p:sp>
      <p:sp>
        <p:nvSpPr>
          <p:cNvPr id="14" name="Text 11"/>
          <p:cNvSpPr/>
          <p:nvPr/>
        </p:nvSpPr>
        <p:spPr>
          <a:xfrm>
            <a:off x="6995160" y="3017520"/>
            <a:ext cx="17373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kern="0" spc="100" dirty="0">
                <a:solidFill>
                  <a:srgbClr val="64748B"/>
                </a:solidFill>
              </a:rPr>
              <a:t>Crecimiento</a:t>
            </a:r>
            <a:endParaRPr lang="en-US" sz="850" dirty="0"/>
          </a:p>
        </p:txBody>
      </p:sp>
      <p:sp>
        <p:nvSpPr>
          <p:cNvPr id="15" name="Text 12"/>
          <p:cNvSpPr/>
          <p:nvPr/>
        </p:nvSpPr>
        <p:spPr>
          <a:xfrm>
            <a:off x="6995160" y="3200400"/>
            <a:ext cx="17373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64748B"/>
                </a:solidFill>
              </a:rPr>
              <a:t>May → Ene</a:t>
            </a:r>
            <a:endParaRPr lang="en-US" sz="850" dirty="0"/>
          </a:p>
        </p:txBody>
      </p:sp>
      <p:sp>
        <p:nvSpPr>
          <p:cNvPr id="16" name="Shape 13"/>
          <p:cNvSpPr/>
          <p:nvPr/>
        </p:nvSpPr>
        <p:spPr>
          <a:xfrm>
            <a:off x="6949440" y="3611880"/>
            <a:ext cx="182880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C"/>
          </a:p>
        </p:txBody>
      </p:sp>
      <p:sp>
        <p:nvSpPr>
          <p:cNvPr id="17" name="Shape 14"/>
          <p:cNvSpPr/>
          <p:nvPr/>
        </p:nvSpPr>
        <p:spPr>
          <a:xfrm>
            <a:off x="6949440" y="3611880"/>
            <a:ext cx="1828800" cy="73152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18" name="Text 15"/>
          <p:cNvSpPr/>
          <p:nvPr/>
        </p:nvSpPr>
        <p:spPr>
          <a:xfrm>
            <a:off x="6995160" y="3730752"/>
            <a:ext cx="1737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65A82"/>
                </a:solidFill>
              </a:rPr>
              <a:t>2,308</a:t>
            </a:r>
            <a:endParaRPr lang="en-US" sz="2200" dirty="0"/>
          </a:p>
        </p:txBody>
      </p:sp>
      <p:sp>
        <p:nvSpPr>
          <p:cNvPr id="19" name="Text 16"/>
          <p:cNvSpPr/>
          <p:nvPr/>
        </p:nvSpPr>
        <p:spPr>
          <a:xfrm>
            <a:off x="6995160" y="4160520"/>
            <a:ext cx="17373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kern="0" spc="100" dirty="0">
                <a:solidFill>
                  <a:srgbClr val="64748B"/>
                </a:solidFill>
              </a:rPr>
              <a:t>Promedio</a:t>
            </a:r>
            <a:endParaRPr lang="en-US" sz="850" dirty="0"/>
          </a:p>
        </p:txBody>
      </p:sp>
      <p:sp>
        <p:nvSpPr>
          <p:cNvPr id="20" name="Text 17"/>
          <p:cNvSpPr/>
          <p:nvPr/>
        </p:nvSpPr>
        <p:spPr>
          <a:xfrm>
            <a:off x="6995160" y="4343400"/>
            <a:ext cx="17373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64748B"/>
                </a:solidFill>
              </a:rPr>
              <a:t>citas / mes</a:t>
            </a:r>
            <a:endParaRPr lang="en-US" sz="850" dirty="0"/>
          </a:p>
        </p:txBody>
      </p:sp>
      <p:pic>
        <p:nvPicPr>
          <p:cNvPr id="22" name="Imagen 21">
            <a:extLst>
              <a:ext uri="{FF2B5EF4-FFF2-40B4-BE49-F238E27FC236}">
                <a16:creationId xmlns:a16="http://schemas.microsoft.com/office/drawing/2014/main" id="{75E437BA-5E5B-8E55-7CF7-8BF8EFDAEEEF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9495"/>
          <a:stretch>
            <a:fillRect/>
          </a:stretch>
        </p:blipFill>
        <p:spPr>
          <a:xfrm>
            <a:off x="388620" y="1188720"/>
            <a:ext cx="6400800" cy="3420272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0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046720" y="164592"/>
            <a:ext cx="822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2800" b="1" dirty="0">
                <a:solidFill>
                  <a:srgbClr val="065A82">
                    <a:alpha val="70000"/>
                  </a:srgbClr>
                </a:solidFill>
              </a:rPr>
              <a:t>08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64592"/>
            <a:ext cx="6858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02C39A"/>
                </a:solidFill>
              </a:rPr>
              <a:t>ANÁLISIS FINANCIERO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566928"/>
            <a:ext cx="8046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93B"/>
                </a:solidFill>
              </a:rPr>
              <a:t>Inversión, Retorno y Justificación del Costo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365760" y="1207008"/>
            <a:ext cx="265176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C"/>
          </a:p>
        </p:txBody>
      </p:sp>
      <p:sp>
        <p:nvSpPr>
          <p:cNvPr id="6" name="Shape 4"/>
          <p:cNvSpPr/>
          <p:nvPr/>
        </p:nvSpPr>
        <p:spPr>
          <a:xfrm>
            <a:off x="365760" y="1207008"/>
            <a:ext cx="2651760" cy="73152"/>
          </a:xfrm>
          <a:prstGeom prst="rect">
            <a:avLst/>
          </a:prstGeom>
          <a:solidFill>
            <a:srgbClr val="D62828"/>
          </a:solidFill>
          <a:ln w="12700">
            <a:solidFill>
              <a:srgbClr val="D62828"/>
            </a:solidFill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7" name="Text 5"/>
          <p:cNvSpPr/>
          <p:nvPr/>
        </p:nvSpPr>
        <p:spPr>
          <a:xfrm>
            <a:off x="457200" y="1353312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D62828"/>
                </a:solidFill>
              </a:rPr>
              <a:t>$5,000</a:t>
            </a:r>
            <a:endParaRPr lang="en-US" sz="3600" dirty="0"/>
          </a:p>
        </p:txBody>
      </p:sp>
      <p:sp>
        <p:nvSpPr>
          <p:cNvPr id="8" name="Text 6"/>
          <p:cNvSpPr/>
          <p:nvPr/>
        </p:nvSpPr>
        <p:spPr>
          <a:xfrm>
            <a:off x="457200" y="1993392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</a:rPr>
              <a:t>Inversión Total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2286000"/>
            <a:ext cx="24688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64748B"/>
                </a:solidFill>
              </a:rPr>
              <a:t>Desarrollo + Capacitación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3200400" y="1207008"/>
            <a:ext cx="265176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C"/>
          </a:p>
        </p:txBody>
      </p:sp>
      <p:sp>
        <p:nvSpPr>
          <p:cNvPr id="11" name="Shape 9"/>
          <p:cNvSpPr/>
          <p:nvPr/>
        </p:nvSpPr>
        <p:spPr>
          <a:xfrm>
            <a:off x="3200400" y="1207008"/>
            <a:ext cx="2651760" cy="73152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12" name="Text 10"/>
          <p:cNvSpPr/>
          <p:nvPr/>
        </p:nvSpPr>
        <p:spPr>
          <a:xfrm>
            <a:off x="3291840" y="1353312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22C55E"/>
                </a:solidFill>
              </a:rPr>
              <a:t>$25,000</a:t>
            </a:r>
            <a:endParaRPr lang="en-US" sz="3600" dirty="0"/>
          </a:p>
        </p:txBody>
      </p:sp>
      <p:sp>
        <p:nvSpPr>
          <p:cNvPr id="13" name="Text 11"/>
          <p:cNvSpPr/>
          <p:nvPr/>
        </p:nvSpPr>
        <p:spPr>
          <a:xfrm>
            <a:off x="3291840" y="1993392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</a:rPr>
              <a:t>Retorno Año 1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3291840" y="2286000"/>
            <a:ext cx="24688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64748B"/>
                </a:solidFill>
              </a:rPr>
              <a:t>Ingresos + Ahorro Operacional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6035040" y="1207008"/>
            <a:ext cx="265176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C"/>
          </a:p>
        </p:txBody>
      </p:sp>
      <p:sp>
        <p:nvSpPr>
          <p:cNvPr id="16" name="Shape 14"/>
          <p:cNvSpPr/>
          <p:nvPr/>
        </p:nvSpPr>
        <p:spPr>
          <a:xfrm>
            <a:off x="6035040" y="1207008"/>
            <a:ext cx="2651760" cy="73152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17" name="Text 15"/>
          <p:cNvSpPr/>
          <p:nvPr/>
        </p:nvSpPr>
        <p:spPr>
          <a:xfrm>
            <a:off x="6126480" y="1353312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59E0B"/>
                </a:solidFill>
              </a:rPr>
              <a:t>$250</a:t>
            </a:r>
            <a:endParaRPr lang="en-US" sz="3600" dirty="0"/>
          </a:p>
        </p:txBody>
      </p:sp>
      <p:sp>
        <p:nvSpPr>
          <p:cNvPr id="18" name="Text 16"/>
          <p:cNvSpPr/>
          <p:nvPr/>
        </p:nvSpPr>
        <p:spPr>
          <a:xfrm>
            <a:off x="6126480" y="1993392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 err="1">
                <a:solidFill>
                  <a:srgbClr val="1E293B"/>
                </a:solidFill>
              </a:rPr>
              <a:t>Mantenimiento</a:t>
            </a:r>
            <a:r>
              <a:rPr lang="en-US" sz="1200" b="1" dirty="0">
                <a:solidFill>
                  <a:srgbClr val="1E293B"/>
                </a:solidFill>
              </a:rPr>
              <a:t> al Mes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126480" y="2286000"/>
            <a:ext cx="24688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365760" y="26974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64748B"/>
                </a:solidFill>
              </a:rPr>
              <a:t>DESGLOSE DE INVERSIÓN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365760" y="3017520"/>
            <a:ext cx="4114800" cy="292608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22" name="Text 20"/>
          <p:cNvSpPr/>
          <p:nvPr/>
        </p:nvSpPr>
        <p:spPr>
          <a:xfrm>
            <a:off x="502920" y="3017520"/>
            <a:ext cx="31089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</a:rPr>
              <a:t>Análisis y diseño del sistema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3566160" y="3017520"/>
            <a:ext cx="914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065A82"/>
                </a:solidFill>
              </a:rPr>
              <a:t>$700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365760" y="3337560"/>
            <a:ext cx="4114800" cy="29260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25" name="Text 23"/>
          <p:cNvSpPr/>
          <p:nvPr/>
        </p:nvSpPr>
        <p:spPr>
          <a:xfrm>
            <a:off x="502920" y="3337560"/>
            <a:ext cx="31089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</a:rPr>
              <a:t>Desarrollo TPS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3566160" y="3337560"/>
            <a:ext cx="914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065A82"/>
                </a:solidFill>
              </a:rPr>
              <a:t>$1,500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365760" y="3657600"/>
            <a:ext cx="4114800" cy="292608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28" name="Text 26"/>
          <p:cNvSpPr/>
          <p:nvPr/>
        </p:nvSpPr>
        <p:spPr>
          <a:xfrm>
            <a:off x="502920" y="3657600"/>
            <a:ext cx="31089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</a:rPr>
              <a:t>Generador de datos + ETL Jupyter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3566160" y="3657600"/>
            <a:ext cx="914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065A82"/>
                </a:solidFill>
              </a:rPr>
              <a:t>$1,100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365760" y="3977640"/>
            <a:ext cx="4114800" cy="29260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31" name="Text 29"/>
          <p:cNvSpPr/>
          <p:nvPr/>
        </p:nvSpPr>
        <p:spPr>
          <a:xfrm>
            <a:off x="502920" y="3977640"/>
            <a:ext cx="31089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</a:rPr>
              <a:t>Dashboard MIS (8 KPIs)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3566160" y="3977640"/>
            <a:ext cx="914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065A82"/>
                </a:solidFill>
              </a:rPr>
              <a:t>$900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365760" y="4297680"/>
            <a:ext cx="4114800" cy="292608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34" name="Text 32"/>
          <p:cNvSpPr/>
          <p:nvPr/>
        </p:nvSpPr>
        <p:spPr>
          <a:xfrm>
            <a:off x="502920" y="4297680"/>
            <a:ext cx="31089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</a:rPr>
              <a:t>Documentación y capacitación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3566160" y="4297680"/>
            <a:ext cx="914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065A82"/>
                </a:solidFill>
              </a:rPr>
              <a:t>$500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365760" y="4617720"/>
            <a:ext cx="4114800" cy="29260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37" name="Text 35"/>
          <p:cNvSpPr/>
          <p:nvPr/>
        </p:nvSpPr>
        <p:spPr>
          <a:xfrm>
            <a:off x="502920" y="4617720"/>
            <a:ext cx="31089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</a:rPr>
              <a:t>Infraestructura y contingencia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3566160" y="4617720"/>
            <a:ext cx="914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065A82"/>
                </a:solidFill>
              </a:rPr>
              <a:t>$300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4663440" y="26974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64748B"/>
                </a:solidFill>
              </a:rPr>
              <a:t>COMPONENTES DEL RETORNO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663440" y="3017520"/>
            <a:ext cx="411480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41" name="Shape 39"/>
          <p:cNvSpPr/>
          <p:nvPr/>
        </p:nvSpPr>
        <p:spPr>
          <a:xfrm>
            <a:off x="4663440" y="3017520"/>
            <a:ext cx="54864" cy="402336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42" name="Text 40"/>
          <p:cNvSpPr/>
          <p:nvPr/>
        </p:nvSpPr>
        <p:spPr>
          <a:xfrm>
            <a:off x="4791456" y="303580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</a:rPr>
              <a:t>Multas por inasistencia/año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7498080" y="3035808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22C55E"/>
                </a:solidFill>
              </a:rPr>
              <a:t>$27,100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4663440" y="3493008"/>
            <a:ext cx="411480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45" name="Shape 43"/>
          <p:cNvSpPr/>
          <p:nvPr/>
        </p:nvSpPr>
        <p:spPr>
          <a:xfrm>
            <a:off x="4663440" y="3493008"/>
            <a:ext cx="54864" cy="402336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46" name="Text 44"/>
          <p:cNvSpPr/>
          <p:nvPr/>
        </p:nvSpPr>
        <p:spPr>
          <a:xfrm>
            <a:off x="4791456" y="3511296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</a:rPr>
              <a:t>Ahorro en reportería manual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7498080" y="3511296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1C7293"/>
                </a:solidFill>
              </a:rPr>
              <a:t>$6,400</a:t>
            </a:r>
            <a:endParaRPr lang="en-US" sz="1100" dirty="0"/>
          </a:p>
        </p:txBody>
      </p:sp>
      <p:sp>
        <p:nvSpPr>
          <p:cNvPr id="48" name="Shape 46"/>
          <p:cNvSpPr/>
          <p:nvPr/>
        </p:nvSpPr>
        <p:spPr>
          <a:xfrm>
            <a:off x="4663440" y="3968496"/>
            <a:ext cx="411480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49" name="Shape 47"/>
          <p:cNvSpPr/>
          <p:nvPr/>
        </p:nvSpPr>
        <p:spPr>
          <a:xfrm>
            <a:off x="4663440" y="3968496"/>
            <a:ext cx="54864" cy="402336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50" name="Text 48"/>
          <p:cNvSpPr/>
          <p:nvPr/>
        </p:nvSpPr>
        <p:spPr>
          <a:xfrm>
            <a:off x="4791456" y="3986784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</a:rPr>
              <a:t>Reducción jornadas improductivas</a:t>
            </a:r>
            <a:endParaRPr lang="en-US" sz="1000" dirty="0"/>
          </a:p>
        </p:txBody>
      </p:sp>
      <p:sp>
        <p:nvSpPr>
          <p:cNvPr id="51" name="Text 49"/>
          <p:cNvSpPr/>
          <p:nvPr/>
        </p:nvSpPr>
        <p:spPr>
          <a:xfrm>
            <a:off x="7498080" y="3986784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065A82"/>
                </a:solidFill>
              </a:rPr>
              <a:t>$5,200</a:t>
            </a:r>
            <a:endParaRPr lang="en-US" sz="1100" dirty="0"/>
          </a:p>
        </p:txBody>
      </p:sp>
      <p:sp>
        <p:nvSpPr>
          <p:cNvPr id="52" name="Shape 50"/>
          <p:cNvSpPr/>
          <p:nvPr/>
        </p:nvSpPr>
        <p:spPr>
          <a:xfrm>
            <a:off x="4663440" y="4443984"/>
            <a:ext cx="411480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53" name="Shape 51"/>
          <p:cNvSpPr/>
          <p:nvPr/>
        </p:nvSpPr>
        <p:spPr>
          <a:xfrm>
            <a:off x="4663440" y="4443984"/>
            <a:ext cx="54864" cy="402336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54" name="Text 52"/>
          <p:cNvSpPr/>
          <p:nvPr/>
        </p:nvSpPr>
        <p:spPr>
          <a:xfrm>
            <a:off x="4791456" y="4462272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</a:rPr>
              <a:t>Optimización de contraciones</a:t>
            </a:r>
            <a:endParaRPr lang="en-US" sz="1000" dirty="0"/>
          </a:p>
        </p:txBody>
      </p:sp>
      <p:sp>
        <p:nvSpPr>
          <p:cNvPr id="55" name="Text 53"/>
          <p:cNvSpPr/>
          <p:nvPr/>
        </p:nvSpPr>
        <p:spPr>
          <a:xfrm>
            <a:off x="7498080" y="4462272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02C39A"/>
                </a:solidFill>
              </a:rPr>
              <a:t>$4,800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0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046720" y="164592"/>
            <a:ext cx="822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2800" b="1" dirty="0">
                <a:solidFill>
                  <a:srgbClr val="065A82">
                    <a:alpha val="70000"/>
                  </a:srgbClr>
                </a:solidFill>
              </a:rPr>
              <a:t>09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64592"/>
            <a:ext cx="6858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02C39A"/>
                </a:solidFill>
              </a:rPr>
              <a:t>HOJA DE RUTA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566928"/>
            <a:ext cx="8046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93B"/>
                </a:solidFill>
              </a:rPr>
              <a:t>Plan de Implementación — 4 Fases, 8 semanas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365760" y="1188720"/>
            <a:ext cx="1920240" cy="3611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C"/>
          </a:p>
        </p:txBody>
      </p:sp>
      <p:sp>
        <p:nvSpPr>
          <p:cNvPr id="6" name="Shape 4"/>
          <p:cNvSpPr/>
          <p:nvPr/>
        </p:nvSpPr>
        <p:spPr>
          <a:xfrm>
            <a:off x="365760" y="1188720"/>
            <a:ext cx="1920240" cy="86868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7" name="Text 5"/>
          <p:cNvSpPr/>
          <p:nvPr/>
        </p:nvSpPr>
        <p:spPr>
          <a:xfrm>
            <a:off x="365760" y="1216152"/>
            <a:ext cx="1920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>
                    <a:alpha val="60000"/>
                  </a:srgbClr>
                </a:solidFill>
              </a:rPr>
              <a:t>01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438912" y="1554480"/>
            <a:ext cx="177393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</a:rPr>
              <a:t>PLANIFICACIÓN Y ANÁLISIS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365760" y="2057400"/>
            <a:ext cx="1920240" cy="292608"/>
          </a:xfrm>
          <a:prstGeom prst="rect">
            <a:avLst/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10" name="Text 8"/>
          <p:cNvSpPr/>
          <p:nvPr/>
        </p:nvSpPr>
        <p:spPr>
          <a:xfrm>
            <a:off x="365760" y="2057400"/>
            <a:ext cx="1920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64748B"/>
                </a:solidFill>
              </a:rPr>
              <a:t>Sem 1  ·  1 semana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502920" y="2441448"/>
            <a:ext cx="109728" cy="109728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12" name="Text 10"/>
          <p:cNvSpPr/>
          <p:nvPr/>
        </p:nvSpPr>
        <p:spPr>
          <a:xfrm>
            <a:off x="667512" y="2404872"/>
            <a:ext cx="153619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93B"/>
                </a:solidFill>
              </a:rPr>
              <a:t>Análisis de requerimientos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502920" y="2953512"/>
            <a:ext cx="109728" cy="109728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14" name="Text 12"/>
          <p:cNvSpPr/>
          <p:nvPr/>
        </p:nvSpPr>
        <p:spPr>
          <a:xfrm>
            <a:off x="667512" y="2916936"/>
            <a:ext cx="153619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93B"/>
                </a:solidFill>
              </a:rPr>
              <a:t>Identificación de stakeholders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502920" y="3465576"/>
            <a:ext cx="109728" cy="109728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16" name="Text 14"/>
          <p:cNvSpPr/>
          <p:nvPr/>
        </p:nvSpPr>
        <p:spPr>
          <a:xfrm>
            <a:off x="667512" y="3429000"/>
            <a:ext cx="153619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93B"/>
                </a:solidFill>
              </a:rPr>
              <a:t>Definición de 8 KPIs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502920" y="3977640"/>
            <a:ext cx="109728" cy="109728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18" name="Text 16"/>
          <p:cNvSpPr/>
          <p:nvPr/>
        </p:nvSpPr>
        <p:spPr>
          <a:xfrm>
            <a:off x="667512" y="3941064"/>
            <a:ext cx="153619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93B"/>
                </a:solidFill>
              </a:rPr>
              <a:t>Diseño de mockups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2468880" y="1188720"/>
            <a:ext cx="1920240" cy="3611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C"/>
          </a:p>
        </p:txBody>
      </p:sp>
      <p:sp>
        <p:nvSpPr>
          <p:cNvPr id="20" name="Shape 18"/>
          <p:cNvSpPr/>
          <p:nvPr/>
        </p:nvSpPr>
        <p:spPr>
          <a:xfrm>
            <a:off x="2468880" y="1188720"/>
            <a:ext cx="1920240" cy="868680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21" name="Text 19"/>
          <p:cNvSpPr/>
          <p:nvPr/>
        </p:nvSpPr>
        <p:spPr>
          <a:xfrm>
            <a:off x="2468880" y="1216152"/>
            <a:ext cx="1920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>
                    <a:alpha val="60000"/>
                  </a:srgbClr>
                </a:solidFill>
              </a:rPr>
              <a:t>02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2542032" y="1554480"/>
            <a:ext cx="177393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</a:rPr>
              <a:t>DESARROLLO DEL TPS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2468880" y="2057400"/>
            <a:ext cx="1920240" cy="292608"/>
          </a:xfrm>
          <a:prstGeom prst="rect">
            <a:avLst/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24" name="Text 22"/>
          <p:cNvSpPr/>
          <p:nvPr/>
        </p:nvSpPr>
        <p:spPr>
          <a:xfrm>
            <a:off x="2468880" y="2057400"/>
            <a:ext cx="1920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64748B"/>
                </a:solidFill>
              </a:rPr>
              <a:t>Sem 2-4  ·  3 semanas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2606040" y="2441448"/>
            <a:ext cx="109728" cy="109728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26" name="Text 24"/>
          <p:cNvSpPr/>
          <p:nvPr/>
        </p:nvSpPr>
        <p:spPr>
          <a:xfrm>
            <a:off x="2770632" y="2404872"/>
            <a:ext cx="153619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93B"/>
                </a:solidFill>
              </a:rPr>
              <a:t>Sistema C: 6 módulos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2606040" y="2953512"/>
            <a:ext cx="109728" cy="109728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28" name="Text 26"/>
          <p:cNvSpPr/>
          <p:nvPr/>
        </p:nvSpPr>
        <p:spPr>
          <a:xfrm>
            <a:off x="2770632" y="2916936"/>
            <a:ext cx="153619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93B"/>
                </a:solidFill>
              </a:rPr>
              <a:t>Autenticación 3 roles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2606040" y="3465576"/>
            <a:ext cx="109728" cy="109728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30" name="Text 28"/>
          <p:cNvSpPr/>
          <p:nvPr/>
        </p:nvSpPr>
        <p:spPr>
          <a:xfrm>
            <a:off x="2770632" y="3429000"/>
            <a:ext cx="153619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93B"/>
                </a:solidFill>
              </a:rPr>
              <a:t>Módulo de multas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2606040" y="3977640"/>
            <a:ext cx="109728" cy="109728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32" name="Text 30"/>
          <p:cNvSpPr/>
          <p:nvPr/>
        </p:nvSpPr>
        <p:spPr>
          <a:xfrm>
            <a:off x="2770632" y="3941064"/>
            <a:ext cx="153619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93B"/>
                </a:solidFill>
              </a:rPr>
              <a:t>Generador de datos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4572000" y="1188720"/>
            <a:ext cx="1920240" cy="3611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C"/>
          </a:p>
        </p:txBody>
      </p:sp>
      <p:sp>
        <p:nvSpPr>
          <p:cNvPr id="34" name="Shape 32"/>
          <p:cNvSpPr/>
          <p:nvPr/>
        </p:nvSpPr>
        <p:spPr>
          <a:xfrm>
            <a:off x="4572000" y="1188720"/>
            <a:ext cx="1920240" cy="868680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35" name="Text 33"/>
          <p:cNvSpPr/>
          <p:nvPr/>
        </p:nvSpPr>
        <p:spPr>
          <a:xfrm>
            <a:off x="4572000" y="1216152"/>
            <a:ext cx="1920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>
                    <a:alpha val="60000"/>
                  </a:srgbClr>
                </a:solidFill>
              </a:rPr>
              <a:t>03</a:t>
            </a:r>
            <a:endParaRPr lang="en-US" sz="2200" dirty="0"/>
          </a:p>
        </p:txBody>
      </p:sp>
      <p:sp>
        <p:nvSpPr>
          <p:cNvPr id="36" name="Text 34"/>
          <p:cNvSpPr/>
          <p:nvPr/>
        </p:nvSpPr>
        <p:spPr>
          <a:xfrm>
            <a:off x="4645152" y="1554480"/>
            <a:ext cx="177393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</a:rPr>
              <a:t>IMPLEMENTACIÓN MIS</a:t>
            </a:r>
            <a:endParaRPr lang="en-US" sz="800" dirty="0"/>
          </a:p>
        </p:txBody>
      </p:sp>
      <p:sp>
        <p:nvSpPr>
          <p:cNvPr id="37" name="Shape 35"/>
          <p:cNvSpPr/>
          <p:nvPr/>
        </p:nvSpPr>
        <p:spPr>
          <a:xfrm>
            <a:off x="4572000" y="2057400"/>
            <a:ext cx="1920240" cy="292608"/>
          </a:xfrm>
          <a:prstGeom prst="rect">
            <a:avLst/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38" name="Text 36"/>
          <p:cNvSpPr/>
          <p:nvPr/>
        </p:nvSpPr>
        <p:spPr>
          <a:xfrm>
            <a:off x="4572000" y="2057400"/>
            <a:ext cx="1920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64748B"/>
                </a:solidFill>
              </a:rPr>
              <a:t>Sem 5-6  ·  2 semanas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4709160" y="2441448"/>
            <a:ext cx="109728" cy="109728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40" name="Text 38"/>
          <p:cNvSpPr/>
          <p:nvPr/>
        </p:nvSpPr>
        <p:spPr>
          <a:xfrm>
            <a:off x="4873752" y="2404872"/>
            <a:ext cx="153619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93B"/>
                </a:solidFill>
              </a:rPr>
              <a:t>Pipeline ETL Jupyter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4709160" y="2953512"/>
            <a:ext cx="109728" cy="109728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42" name="Text 40"/>
          <p:cNvSpPr/>
          <p:nvPr/>
        </p:nvSpPr>
        <p:spPr>
          <a:xfrm>
            <a:off x="4873752" y="2916936"/>
            <a:ext cx="153619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93B"/>
                </a:solidFill>
              </a:rPr>
              <a:t>Cálculo de KPIs</a:t>
            </a:r>
            <a:endParaRPr lang="en-US" sz="950" dirty="0"/>
          </a:p>
        </p:txBody>
      </p:sp>
      <p:sp>
        <p:nvSpPr>
          <p:cNvPr id="43" name="Shape 41"/>
          <p:cNvSpPr/>
          <p:nvPr/>
        </p:nvSpPr>
        <p:spPr>
          <a:xfrm>
            <a:off x="4709160" y="3465576"/>
            <a:ext cx="109728" cy="109728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44" name="Text 42"/>
          <p:cNvSpPr/>
          <p:nvPr/>
        </p:nvSpPr>
        <p:spPr>
          <a:xfrm>
            <a:off x="4873752" y="3429000"/>
            <a:ext cx="153619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93B"/>
                </a:solidFill>
              </a:rPr>
              <a:t>8 dashboards Matplotlib</a:t>
            </a:r>
            <a:endParaRPr lang="en-US" sz="950" dirty="0"/>
          </a:p>
        </p:txBody>
      </p:sp>
      <p:sp>
        <p:nvSpPr>
          <p:cNvPr id="45" name="Shape 43"/>
          <p:cNvSpPr/>
          <p:nvPr/>
        </p:nvSpPr>
        <p:spPr>
          <a:xfrm>
            <a:off x="4709160" y="3977640"/>
            <a:ext cx="109728" cy="109728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46" name="Text 44"/>
          <p:cNvSpPr/>
          <p:nvPr/>
        </p:nvSpPr>
        <p:spPr>
          <a:xfrm>
            <a:off x="4873752" y="3941064"/>
            <a:ext cx="153619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93B"/>
                </a:solidFill>
              </a:rPr>
              <a:t>Pruebas con 30,000 citas</a:t>
            </a:r>
            <a:endParaRPr lang="en-US" sz="950" dirty="0"/>
          </a:p>
        </p:txBody>
      </p:sp>
      <p:sp>
        <p:nvSpPr>
          <p:cNvPr id="47" name="Shape 45"/>
          <p:cNvSpPr/>
          <p:nvPr/>
        </p:nvSpPr>
        <p:spPr>
          <a:xfrm>
            <a:off x="6675120" y="1188720"/>
            <a:ext cx="1920240" cy="3611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C"/>
          </a:p>
        </p:txBody>
      </p:sp>
      <p:sp>
        <p:nvSpPr>
          <p:cNvPr id="48" name="Shape 46"/>
          <p:cNvSpPr/>
          <p:nvPr/>
        </p:nvSpPr>
        <p:spPr>
          <a:xfrm>
            <a:off x="6675120" y="1188720"/>
            <a:ext cx="1920240" cy="868680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49" name="Text 47"/>
          <p:cNvSpPr/>
          <p:nvPr/>
        </p:nvSpPr>
        <p:spPr>
          <a:xfrm>
            <a:off x="6675120" y="1216152"/>
            <a:ext cx="1920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>
                    <a:alpha val="60000"/>
                  </a:srgbClr>
                </a:solidFill>
              </a:rPr>
              <a:t>04</a:t>
            </a:r>
            <a:endParaRPr lang="en-US" sz="2200" dirty="0"/>
          </a:p>
        </p:txBody>
      </p:sp>
      <p:sp>
        <p:nvSpPr>
          <p:cNvPr id="50" name="Text 48"/>
          <p:cNvSpPr/>
          <p:nvPr/>
        </p:nvSpPr>
        <p:spPr>
          <a:xfrm>
            <a:off x="6748272" y="1554480"/>
            <a:ext cx="177393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</a:rPr>
              <a:t>VENTA Y ENTREGA</a:t>
            </a:r>
            <a:endParaRPr lang="en-US" sz="800" dirty="0"/>
          </a:p>
        </p:txBody>
      </p:sp>
      <p:sp>
        <p:nvSpPr>
          <p:cNvPr id="51" name="Shape 49"/>
          <p:cNvSpPr/>
          <p:nvPr/>
        </p:nvSpPr>
        <p:spPr>
          <a:xfrm>
            <a:off x="6675120" y="2057400"/>
            <a:ext cx="1920240" cy="292608"/>
          </a:xfrm>
          <a:prstGeom prst="rect">
            <a:avLst/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52" name="Text 50"/>
          <p:cNvSpPr/>
          <p:nvPr/>
        </p:nvSpPr>
        <p:spPr>
          <a:xfrm>
            <a:off x="6675120" y="2057400"/>
            <a:ext cx="1920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64748B"/>
                </a:solidFill>
              </a:rPr>
              <a:t>Sem 7-8  ·  2 semanas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6812280" y="2441448"/>
            <a:ext cx="109728" cy="109728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54" name="Text 52"/>
          <p:cNvSpPr/>
          <p:nvPr/>
        </p:nvSpPr>
        <p:spPr>
          <a:xfrm>
            <a:off x="6976872" y="2404872"/>
            <a:ext cx="153619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93B"/>
                </a:solidFill>
              </a:rPr>
              <a:t>Presentación gerencial</a:t>
            </a:r>
            <a:endParaRPr lang="en-US" sz="950" dirty="0"/>
          </a:p>
        </p:txBody>
      </p:sp>
      <p:sp>
        <p:nvSpPr>
          <p:cNvPr id="55" name="Shape 53"/>
          <p:cNvSpPr/>
          <p:nvPr/>
        </p:nvSpPr>
        <p:spPr>
          <a:xfrm>
            <a:off x="6812280" y="2953512"/>
            <a:ext cx="109728" cy="109728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56" name="Text 54"/>
          <p:cNvSpPr/>
          <p:nvPr/>
        </p:nvSpPr>
        <p:spPr>
          <a:xfrm>
            <a:off x="6976872" y="2916936"/>
            <a:ext cx="153619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93B"/>
                </a:solidFill>
              </a:rPr>
              <a:t>Informe final académico</a:t>
            </a:r>
            <a:endParaRPr lang="en-US" sz="950" dirty="0"/>
          </a:p>
        </p:txBody>
      </p:sp>
      <p:sp>
        <p:nvSpPr>
          <p:cNvPr id="57" name="Shape 55"/>
          <p:cNvSpPr/>
          <p:nvPr/>
        </p:nvSpPr>
        <p:spPr>
          <a:xfrm>
            <a:off x="6812280" y="3465576"/>
            <a:ext cx="109728" cy="109728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58" name="Text 56"/>
          <p:cNvSpPr/>
          <p:nvPr/>
        </p:nvSpPr>
        <p:spPr>
          <a:xfrm>
            <a:off x="6976872" y="3429000"/>
            <a:ext cx="153619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93B"/>
                </a:solidFill>
              </a:rPr>
              <a:t>Capacitación de usuarios</a:t>
            </a:r>
            <a:endParaRPr lang="en-US" sz="950" dirty="0"/>
          </a:p>
        </p:txBody>
      </p:sp>
      <p:sp>
        <p:nvSpPr>
          <p:cNvPr id="59" name="Shape 57"/>
          <p:cNvSpPr/>
          <p:nvPr/>
        </p:nvSpPr>
        <p:spPr>
          <a:xfrm>
            <a:off x="6812280" y="3977640"/>
            <a:ext cx="109728" cy="109728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60" name="Text 58"/>
          <p:cNvSpPr/>
          <p:nvPr/>
        </p:nvSpPr>
        <p:spPr>
          <a:xfrm>
            <a:off x="6976872" y="3941064"/>
            <a:ext cx="153619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93B"/>
                </a:solidFill>
              </a:rPr>
              <a:t>Deployment final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215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3" name="Shape 1"/>
          <p:cNvSpPr/>
          <p:nvPr/>
        </p:nvSpPr>
        <p:spPr>
          <a:xfrm>
            <a:off x="0" y="5088636"/>
            <a:ext cx="9144000" cy="54864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4" name="Text 2"/>
          <p:cNvSpPr/>
          <p:nvPr/>
        </p:nvSpPr>
        <p:spPr>
          <a:xfrm>
            <a:off x="914400" y="502920"/>
            <a:ext cx="7315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FFFFFF"/>
                </a:solidFill>
              </a:rPr>
              <a:t>De los datos al conocimiento.</a:t>
            </a:r>
            <a:endParaRPr lang="en-US" sz="3000" dirty="0"/>
          </a:p>
          <a:p>
            <a:pPr marL="0" indent="0" algn="ctr">
              <a:buNone/>
            </a:pPr>
            <a:r>
              <a:rPr lang="en-US" sz="3000" b="1" dirty="0">
                <a:solidFill>
                  <a:srgbClr val="FFFFFF"/>
                </a:solidFill>
              </a:rPr>
              <a:t>Del conocimiento a la decisión.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3200400" y="1965960"/>
            <a:ext cx="2743200" cy="36576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6" name="Text 4"/>
          <p:cNvSpPr/>
          <p:nvPr/>
        </p:nvSpPr>
        <p:spPr>
          <a:xfrm>
            <a:off x="457200" y="2103120"/>
            <a:ext cx="1920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02C39A"/>
                </a:solidFill>
              </a:rPr>
              <a:t>30,000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57200" y="2697480"/>
            <a:ext cx="1920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FFFFFF">
                    <a:alpha val="80000"/>
                  </a:srgbClr>
                </a:solidFill>
              </a:rPr>
              <a:t>Citas Analizadas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2514600" y="2103120"/>
            <a:ext cx="1920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02C39A"/>
                </a:solidFill>
              </a:rPr>
              <a:t>80.3%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2514600" y="2697480"/>
            <a:ext cx="1920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FFFFFF">
                    <a:alpha val="80000"/>
                  </a:srgbClr>
                </a:solidFill>
              </a:rPr>
              <a:t>Tasa de Efectividad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4572000" y="2103120"/>
            <a:ext cx="1920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02C39A"/>
                </a:solidFill>
              </a:rPr>
              <a:t>$27,100</a:t>
            </a:r>
            <a:endParaRPr lang="en-US" sz="2600" dirty="0"/>
          </a:p>
        </p:txBody>
      </p:sp>
      <p:sp>
        <p:nvSpPr>
          <p:cNvPr id="11" name="Text 9"/>
          <p:cNvSpPr/>
          <p:nvPr/>
        </p:nvSpPr>
        <p:spPr>
          <a:xfrm>
            <a:off x="4572000" y="2697480"/>
            <a:ext cx="1920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FFFFFF">
                    <a:alpha val="80000"/>
                  </a:srgbClr>
                </a:solidFill>
              </a:rPr>
              <a:t>Capital Recuperable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6629400" y="2103120"/>
            <a:ext cx="1920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02C39A"/>
                </a:solidFill>
              </a:rPr>
              <a:t>194%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6629400" y="2697480"/>
            <a:ext cx="1920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FFFFFF">
                    <a:alpha val="80000"/>
                  </a:srgbClr>
                </a:solidFill>
              </a:rPr>
              <a:t>ROI Proyectado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57200" y="3108960"/>
            <a:ext cx="8229600" cy="36576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15" name="Text 13"/>
          <p:cNvSpPr/>
          <p:nvPr/>
        </p:nvSpPr>
        <p:spPr>
          <a:xfrm>
            <a:off x="731520" y="3246120"/>
            <a:ext cx="76809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i="1" dirty="0">
                <a:solidFill>
                  <a:srgbClr val="FFFFFF">
                    <a:alpha val="90000"/>
                  </a:srgbClr>
                </a:solidFill>
              </a:rPr>
              <a:t>El MIS desarrollado transforma datos transaccionales en ventaja competitiva real.</a:t>
            </a:r>
            <a:endParaRPr lang="en-US" sz="1250" dirty="0"/>
          </a:p>
          <a:p>
            <a:pPr marL="0" indent="0" algn="ctr">
              <a:buNone/>
            </a:pPr>
            <a:r>
              <a:rPr lang="en-US" sz="1250" i="1" dirty="0">
                <a:solidFill>
                  <a:srgbClr val="FFFFFF">
                    <a:alpha val="90000"/>
                  </a:srgbClr>
                </a:solidFill>
              </a:rPr>
              <a:t>La institución deja de operar a ciegas y empieza a decidir con información.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457200" y="429768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kern="0" spc="100" dirty="0">
                <a:solidFill>
                  <a:srgbClr val="02C39A">
                    <a:alpha val="80000"/>
                  </a:srgbClr>
                </a:solidFill>
              </a:rPr>
              <a:t>ISID223  ·  Introducción a los Sistemas de </a:t>
            </a:r>
            <a:r>
              <a:rPr lang="en-US" sz="850" kern="0" spc="100" dirty="0" err="1">
                <a:solidFill>
                  <a:srgbClr val="02C39A">
                    <a:alpha val="80000"/>
                  </a:srgbClr>
                </a:solidFill>
              </a:rPr>
              <a:t>Información</a:t>
            </a:r>
            <a:r>
              <a:rPr lang="en-US" sz="850" kern="0" spc="100" dirty="0">
                <a:solidFill>
                  <a:srgbClr val="02C39A">
                    <a:alpha val="80000"/>
                  </a:srgbClr>
                </a:solidFill>
              </a:rPr>
              <a:t>  ·  EPN-FIS  ·  2026-A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159</TotalTime>
  <Words>794</Words>
  <Application>Microsoft Office PowerPoint</Application>
  <PresentationFormat>Presentación en pantalla (16:9)</PresentationFormat>
  <Paragraphs>196</Paragraphs>
  <Slides>9</Slides>
  <Notes>9</Notes>
  <HiddenSlides>0</HiddenSlides>
  <MMClips>0</MMClips>
  <ScaleCrop>false</ScaleCrop>
  <HeadingPairs>
    <vt:vector size="6" baseType="variant">
      <vt:variant>
        <vt:lpstr>Fuentes usadas</vt:lpstr>
      </vt:variant>
      <vt:variant>
        <vt:i4>1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9</vt:i4>
      </vt:variant>
    </vt:vector>
  </HeadingPairs>
  <TitlesOfParts>
    <vt:vector size="11" baseType="lpstr">
      <vt:lpstr>Arial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MIS - Sistema de Gestión de Citas Médicas</dc:title>
  <dc:subject>PptxGenJS Presentation</dc:subject>
  <dc:creator>PptxGenJS</dc:creator>
  <cp:lastModifiedBy>DERLIS STEFANO LEDESMA COLA</cp:lastModifiedBy>
  <cp:revision>3</cp:revision>
  <dcterms:created xsi:type="dcterms:W3CDTF">2026-06-01T06:48:25Z</dcterms:created>
  <dcterms:modified xsi:type="dcterms:W3CDTF">2026-06-02T05:05:51Z</dcterms:modified>
</cp:coreProperties>
</file>