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6.xml" ContentType="application/vnd.openxmlformats-officedocument.presentationml.notesSlide+xml"/>
  <Override PartName="/ppt/charts/chart3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5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2" d="100"/>
          <a:sy n="92" d="100"/>
        </p:scale>
        <p:origin x="54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s-ES" sz="1100" b="0" i="0" u="none" strike="noStrike">
                <a:solidFill>
                  <a:srgbClr val="000000"/>
                </a:solidFill>
                <a:latin typeface="Arial"/>
              </a:rPr>
              <a:t>KPI 1 y 2: Distribución de Citas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Estado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2C55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C308-4B14-B26B-3A71307E95C3}"/>
              </c:ext>
            </c:extLst>
          </c:dPt>
          <c:dPt>
            <c:idx val="1"/>
            <c:bubble3D val="0"/>
            <c:spPr>
              <a:solidFill>
                <a:srgbClr val="065A8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C308-4B14-B26B-3A71307E95C3}"/>
              </c:ext>
            </c:extLst>
          </c:dPt>
          <c:dPt>
            <c:idx val="2"/>
            <c:bubble3D val="0"/>
            <c:spPr>
              <a:solidFill>
                <a:srgbClr val="F59E0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C308-4B14-B26B-3A71307E95C3}"/>
              </c:ext>
            </c:extLst>
          </c:dPt>
          <c:dPt>
            <c:idx val="3"/>
            <c:bubble3D val="0"/>
            <c:spPr>
              <a:solidFill>
                <a:srgbClr val="D6282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C308-4B14-B26B-3A71307E95C3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s-EC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C308-4B14-B26B-3A71307E95C3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s-EC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C308-4B14-B26B-3A71307E95C3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s-EC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C308-4B14-B26B-3A71307E95C3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s-EC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C308-4B14-B26B-3A71307E95C3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s-EC"/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Atendida</c:v>
                </c:pt>
                <c:pt idx="1">
                  <c:v>Activa</c:v>
                </c:pt>
                <c:pt idx="2">
                  <c:v>Cancelada</c:v>
                </c:pt>
                <c:pt idx="3">
                  <c:v>No Asistió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80.3</c:v>
                </c:pt>
                <c:pt idx="1">
                  <c:v>10.7</c:v>
                </c:pt>
                <c:pt idx="2">
                  <c:v>5.4</c:v>
                </c:pt>
                <c:pt idx="3">
                  <c:v>3.6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308-4B14-B26B-3A71307E95C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r"/>
      <c:overlay val="0"/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s-EC" sz="1100" b="0" i="0" u="none" strike="noStrike">
                <a:solidFill>
                  <a:srgbClr val="000000"/>
                </a:solidFill>
                <a:latin typeface="Arial"/>
              </a:rPr>
              <a:t>KPI 3: Top 5 Especialidades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Citas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4A14-4172-96A3-D50AB13976C8}"/>
              </c:ext>
            </c:extLst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4A14-4172-96A3-D50AB13976C8}"/>
              </c:ext>
            </c:extLst>
          </c:dPt>
          <c:dPt>
            <c:idx val="2"/>
            <c:invertIfNegative val="0"/>
            <c:bubble3D val="0"/>
            <c:spPr>
              <a:solidFill>
                <a:srgbClr val="02C39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4A14-4172-96A3-D50AB13976C8}"/>
              </c:ext>
            </c:extLst>
          </c:dPt>
          <c:dPt>
            <c:idx val="3"/>
            <c:invertIfNegative val="0"/>
            <c:bubble3D val="0"/>
            <c:spPr>
              <a:solidFill>
                <a:srgbClr val="0D948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4A14-4172-96A3-D50AB13976C8}"/>
              </c:ext>
            </c:extLst>
          </c:dPt>
          <c:dPt>
            <c:idx val="4"/>
            <c:invertIfNegative val="0"/>
            <c:bubble3D val="0"/>
            <c:spPr>
              <a:solidFill>
                <a:srgbClr val="14B8A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4A14-4172-96A3-D50AB13976C8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s-EC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Otorrinolar.</c:v>
                </c:pt>
                <c:pt idx="1">
                  <c:v>Neumología</c:v>
                </c:pt>
                <c:pt idx="2">
                  <c:v>Med. General</c:v>
                </c:pt>
                <c:pt idx="3">
                  <c:v>Neurología</c:v>
                </c:pt>
                <c:pt idx="4">
                  <c:v>Gastroenter.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3477</c:v>
                </c:pt>
                <c:pt idx="1">
                  <c:v>2954</c:v>
                </c:pt>
                <c:pt idx="2">
                  <c:v>2829</c:v>
                </c:pt>
                <c:pt idx="3">
                  <c:v>2755</c:v>
                </c:pt>
                <c:pt idx="4">
                  <c:v>2712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4A14-4172-96A3-D50AB13976C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s-EC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s-EC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s-EC" sz="1200" b="0" i="0" u="none" strike="noStrike">
                <a:solidFill>
                  <a:srgbClr val="000000"/>
                </a:solidFill>
                <a:latin typeface="Arial"/>
              </a:rPr>
              <a:t>Agendamientos Mensuales (May 2026 – May 2027)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Citas por mes</c:v>
                </c:pt>
              </c:strCache>
            </c:strRef>
          </c:tx>
          <c:spPr>
            <a:ln w="38100" cap="flat">
              <a:solidFill>
                <a:srgbClr val="065A82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65A82"/>
              </a:solidFill>
              <a:ln w="9525" cap="flat">
                <a:solidFill>
                  <a:srgbClr val="065A82"/>
                </a:solidFill>
                <a:prstDash val="solid"/>
                <a:round/>
              </a:ln>
              <a:effectLst/>
            </c:spPr>
          </c:marker>
          <c:cat>
            <c:strRef>
              <c:f>Sheet1!$A$2:$A$14</c:f>
              <c:strCache>
                <c:ptCount val="13"/>
                <c:pt idx="0">
                  <c:v>May-26</c:v>
                </c:pt>
                <c:pt idx="1">
                  <c:v>Jun-26</c:v>
                </c:pt>
                <c:pt idx="2">
                  <c:v>Jul-26</c:v>
                </c:pt>
                <c:pt idx="3">
                  <c:v>Ago-26</c:v>
                </c:pt>
                <c:pt idx="4">
                  <c:v>Sep-26</c:v>
                </c:pt>
                <c:pt idx="5">
                  <c:v>Oct-26</c:v>
                </c:pt>
                <c:pt idx="6">
                  <c:v>Nov-26</c:v>
                </c:pt>
                <c:pt idx="7">
                  <c:v>Dic-26</c:v>
                </c:pt>
                <c:pt idx="8">
                  <c:v>Ene-27</c:v>
                </c:pt>
                <c:pt idx="9">
                  <c:v>Feb-27</c:v>
                </c:pt>
                <c:pt idx="10">
                  <c:v>Mar-27</c:v>
                </c:pt>
                <c:pt idx="11">
                  <c:v>Abr-27</c:v>
                </c:pt>
                <c:pt idx="12">
                  <c:v>May-27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41</c:v>
                </c:pt>
                <c:pt idx="1">
                  <c:v>1267</c:v>
                </c:pt>
                <c:pt idx="2">
                  <c:v>1559</c:v>
                </c:pt>
                <c:pt idx="3">
                  <c:v>1893</c:v>
                </c:pt>
                <c:pt idx="4">
                  <c:v>2207</c:v>
                </c:pt>
                <c:pt idx="5">
                  <c:v>2866</c:v>
                </c:pt>
                <c:pt idx="6">
                  <c:v>3466</c:v>
                </c:pt>
                <c:pt idx="7">
                  <c:v>4294</c:v>
                </c:pt>
                <c:pt idx="8">
                  <c:v>4303</c:v>
                </c:pt>
                <c:pt idx="9">
                  <c:v>2656</c:v>
                </c:pt>
                <c:pt idx="10">
                  <c:v>2095</c:v>
                </c:pt>
                <c:pt idx="11">
                  <c:v>1814</c:v>
                </c:pt>
                <c:pt idx="12">
                  <c:v>1539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B9BD-4158-8B9A-4083B05DCB9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s-EC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s-EC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08668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chart" Target="../charts/char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mailto:derlisaea@gmail.com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" name="Shape 1"/>
          <p:cNvSpPr/>
          <p:nvPr/>
        </p:nvSpPr>
        <p:spPr>
          <a:xfrm>
            <a:off x="0" y="54864"/>
            <a:ext cx="3474720" cy="5088636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" name="Text 2"/>
          <p:cNvSpPr/>
          <p:nvPr/>
        </p:nvSpPr>
        <p:spPr>
          <a:xfrm>
            <a:off x="274320" y="1097280"/>
            <a:ext cx="29260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FFFFFF">
                    <a:alpha val="15000"/>
                  </a:srgbClr>
                </a:solidFill>
              </a:rPr>
              <a:t>MIS</a:t>
            </a:r>
            <a:endParaRPr lang="en-US" sz="9600" dirty="0"/>
          </a:p>
        </p:txBody>
      </p:sp>
      <p:sp>
        <p:nvSpPr>
          <p:cNvPr id="5" name="Shape 3"/>
          <p:cNvSpPr/>
          <p:nvPr/>
        </p:nvSpPr>
        <p:spPr>
          <a:xfrm>
            <a:off x="1051560" y="731520"/>
            <a:ext cx="1371600" cy="137160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6" name="Text 4"/>
          <p:cNvSpPr/>
          <p:nvPr/>
        </p:nvSpPr>
        <p:spPr>
          <a:xfrm>
            <a:off x="1051560" y="7315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021526"/>
                </a:solidFill>
              </a:rPr>
              <a:t>+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3749040" y="36576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2C39A"/>
                </a:solidFill>
              </a:rPr>
              <a:t>ESCUELA POLITÉCNICA NACIONAL — EPN/FIS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749040" y="777240"/>
            <a:ext cx="51206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</a:rPr>
              <a:t>SISTEMA DE INFORMACIÓN</a:t>
            </a:r>
            <a:endParaRPr lang="en-US" sz="2800" dirty="0"/>
          </a:p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</a:rPr>
              <a:t>GERENCIAL PARA GESTIÓN</a:t>
            </a:r>
            <a:endParaRPr lang="en-US" sz="2800" dirty="0"/>
          </a:p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</a:rPr>
              <a:t>DE CITAS MÉDICAS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749040" y="288036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2C39A"/>
                </a:solidFill>
              </a:rPr>
              <a:t>Transformación de Datos Transaccionales en Ventaja Competitiva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749040" y="3520440"/>
            <a:ext cx="5120640" cy="2286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1" name="Text 9"/>
          <p:cNvSpPr/>
          <p:nvPr/>
        </p:nvSpPr>
        <p:spPr>
          <a:xfrm>
            <a:off x="3749040" y="3611880"/>
            <a:ext cx="5120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rgbClr val="64748B"/>
                </a:solidFill>
              </a:rPr>
              <a:t>Introducción</a:t>
            </a:r>
            <a:r>
              <a:rPr lang="en-US" sz="1100" dirty="0">
                <a:solidFill>
                  <a:srgbClr val="64748B"/>
                </a:solidFill>
              </a:rPr>
              <a:t> a los Sistemas de Información</a:t>
            </a:r>
            <a:endParaRPr lang="en-US" sz="1100" dirty="0"/>
          </a:p>
          <a:p>
            <a:r>
              <a:rPr lang="en-US" sz="1100" dirty="0">
                <a:solidFill>
                  <a:srgbClr val="64748B"/>
                </a:solidFill>
              </a:rPr>
              <a:t>Prof. Iván Carrera  |  Primer </a:t>
            </a:r>
            <a:r>
              <a:rPr lang="en-US" sz="1100" dirty="0" err="1">
                <a:solidFill>
                  <a:srgbClr val="64748B"/>
                </a:solidFill>
              </a:rPr>
              <a:t>Bimestre</a:t>
            </a:r>
            <a:r>
              <a:rPr lang="en-US" sz="1100" dirty="0">
                <a:solidFill>
                  <a:srgbClr val="64748B"/>
                </a:solidFill>
              </a:rPr>
              <a:t> 2026 | </a:t>
            </a:r>
            <a:r>
              <a:rPr lang="en-US" sz="1100" dirty="0" err="1">
                <a:solidFill>
                  <a:srgbClr val="64748B"/>
                </a:solidFill>
              </a:rPr>
              <a:t>Derlis</a:t>
            </a:r>
            <a:r>
              <a:rPr lang="en-US" sz="1100" dirty="0">
                <a:solidFill>
                  <a:srgbClr val="64748B"/>
                </a:solidFill>
              </a:rPr>
              <a:t> Ledesma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749040" y="43434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C7293"/>
                </a:solidFill>
              </a:rPr>
              <a:t>30,000 citas  ·  15,000 pacientes  ·  500 médicos  ·  12 especialidades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164592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065A82">
                    <a:alpha val="70000"/>
                  </a:srgbClr>
                </a:solidFill>
              </a:rPr>
              <a:t>02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685800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02C39A"/>
                </a:solidFill>
              </a:rPr>
              <a:t>IDENTIFICACIÓN DEL PROBLEMA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40233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6" name="Shape 4"/>
          <p:cNvSpPr/>
          <p:nvPr/>
        </p:nvSpPr>
        <p:spPr>
          <a:xfrm>
            <a:off x="365760" y="1234440"/>
            <a:ext cx="64008" cy="1508760"/>
          </a:xfrm>
          <a:prstGeom prst="rect">
            <a:avLst/>
          </a:prstGeom>
          <a:solidFill>
            <a:srgbClr val="D62828"/>
          </a:solidFill>
          <a:ln w="12700">
            <a:solidFill>
              <a:srgbClr val="D62828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7" name="Shape 5"/>
          <p:cNvSpPr/>
          <p:nvPr/>
        </p:nvSpPr>
        <p:spPr>
          <a:xfrm>
            <a:off x="530352" y="1435608"/>
            <a:ext cx="457200" cy="457200"/>
          </a:xfrm>
          <a:prstGeom prst="ellipse">
            <a:avLst/>
          </a:prstGeom>
          <a:solidFill>
            <a:srgbClr val="D62828"/>
          </a:solidFill>
          <a:ln w="12700">
            <a:solidFill>
              <a:srgbClr val="D62828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8" name="Text 6"/>
          <p:cNvSpPr/>
          <p:nvPr/>
        </p:nvSpPr>
        <p:spPr>
          <a:xfrm>
            <a:off x="530352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?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78992" y="139903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Ceguera Operativa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87552" y="1659636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Miles de citas registradas sin ningún análisis. La gerencia desconoce sus especialidades más demandadas, el desempeño de sus médicos y los patrones reales de demanda.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0" y="1234440"/>
            <a:ext cx="40233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 sz="2400"/>
          </a:p>
        </p:txBody>
      </p:sp>
      <p:sp>
        <p:nvSpPr>
          <p:cNvPr id="12" name="Shape 10"/>
          <p:cNvSpPr/>
          <p:nvPr/>
        </p:nvSpPr>
        <p:spPr>
          <a:xfrm>
            <a:off x="4572000" y="1234440"/>
            <a:ext cx="64008" cy="15087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3" name="Shape 11"/>
          <p:cNvSpPr/>
          <p:nvPr/>
        </p:nvSpPr>
        <p:spPr>
          <a:xfrm>
            <a:off x="4736592" y="1435608"/>
            <a:ext cx="457200" cy="4572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4" name="Text 12"/>
          <p:cNvSpPr/>
          <p:nvPr/>
        </p:nvSpPr>
        <p:spPr>
          <a:xfrm>
            <a:off x="4736592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$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85232" y="139903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Fuga de Capital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285232" y="1737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1,084 eventos de No Asistió detectados en el período. Equivalen a $27,100 en ingresos perdidos sin mecanismo alguno de recuperación o penalización.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2880360"/>
            <a:ext cx="40233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 sz="2800"/>
          </a:p>
        </p:txBody>
      </p:sp>
      <p:sp>
        <p:nvSpPr>
          <p:cNvPr id="18" name="Shape 16"/>
          <p:cNvSpPr/>
          <p:nvPr/>
        </p:nvSpPr>
        <p:spPr>
          <a:xfrm>
            <a:off x="365760" y="2880360"/>
            <a:ext cx="64008" cy="15087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9" name="Shape 17"/>
          <p:cNvSpPr/>
          <p:nvPr/>
        </p:nvSpPr>
        <p:spPr>
          <a:xfrm>
            <a:off x="530352" y="3081528"/>
            <a:ext cx="457200" cy="45720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0" name="Text 18"/>
          <p:cNvSpPr/>
          <p:nvPr/>
        </p:nvSpPr>
        <p:spPr>
          <a:xfrm>
            <a:off x="530352" y="3081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!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078992" y="304495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Decisiones Intuitivas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78992" y="338328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Asignación de médicos, presupuesto y especialidades sin fundamento en datos históricos. El riesgo de error es alto y costoso para la institución.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0" y="2880360"/>
            <a:ext cx="40233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 sz="3600"/>
          </a:p>
        </p:txBody>
      </p:sp>
      <p:sp>
        <p:nvSpPr>
          <p:cNvPr id="24" name="Shape 22"/>
          <p:cNvSpPr/>
          <p:nvPr/>
        </p:nvSpPr>
        <p:spPr>
          <a:xfrm>
            <a:off x="4572000" y="2880360"/>
            <a:ext cx="64008" cy="150876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5" name="Shape 23"/>
          <p:cNvSpPr/>
          <p:nvPr/>
        </p:nvSpPr>
        <p:spPr>
          <a:xfrm>
            <a:off x="4736592" y="3081528"/>
            <a:ext cx="457200" cy="45720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6" name="Text 24"/>
          <p:cNvSpPr/>
          <p:nvPr/>
        </p:nvSpPr>
        <p:spPr>
          <a:xfrm>
            <a:off x="4736592" y="3081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≈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285232" y="304495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Sin Métricas de Control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285232" y="338328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No existen KPIs, reportes gerenciales ni indicadores de carga laboral médica. Es imposible evaluar desempeño o planificar capacidad futura.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65760" y="4526280"/>
            <a:ext cx="8412480" cy="4114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0" name="Text 28"/>
          <p:cNvSpPr/>
          <p:nvPr/>
        </p:nvSpPr>
        <p:spPr>
          <a:xfrm>
            <a:off x="365760" y="452628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IMPACTO DIRECTO: $27,100 anuales en pérdidas recuperables + ausencia total de visibilidad gerencial del negocio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164592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065A82">
                    <a:alpha val="70000"/>
                  </a:srgbClr>
                </a:solidFill>
              </a:rPr>
              <a:t>03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C39A"/>
                </a:solidFill>
              </a:rPr>
              <a:t>DIRECCIÓN ESTRATÉGICA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</a:rPr>
              <a:t>Misión, Visión y Objetivos Estratégicos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1207008"/>
            <a:ext cx="4160520" cy="14173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6" name="Text 4"/>
          <p:cNvSpPr/>
          <p:nvPr/>
        </p:nvSpPr>
        <p:spPr>
          <a:xfrm>
            <a:off x="502920" y="1261872"/>
            <a:ext cx="3886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2C39A"/>
                </a:solidFill>
              </a:rPr>
              <a:t>MISIÓN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2920" y="1536192"/>
            <a:ext cx="3886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Proveer a las instituciones de salud una plataforma integral de gestión de citas médicas que integre datos operacionales en tiempo real, facilitando decisiones basadas en evidencia para optimizar recursos y garantizar la satisfacción del paciente.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617720" y="1207008"/>
            <a:ext cx="4160520" cy="14173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9" name="Text 7"/>
          <p:cNvSpPr/>
          <p:nvPr/>
        </p:nvSpPr>
        <p:spPr>
          <a:xfrm>
            <a:off x="4754880" y="1261872"/>
            <a:ext cx="3886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2C39A"/>
                </a:solidFill>
              </a:rPr>
              <a:t>VISIÓN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754880" y="1536192"/>
            <a:ext cx="3886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Ser la </a:t>
            </a:r>
            <a:r>
              <a:rPr lang="en-US" sz="1400" dirty="0" err="1">
                <a:solidFill>
                  <a:srgbClr val="FFFFFF"/>
                </a:solidFill>
              </a:rPr>
              <a:t>solución</a:t>
            </a:r>
            <a:r>
              <a:rPr lang="en-US" sz="1400" dirty="0">
                <a:solidFill>
                  <a:srgbClr val="FFFFFF"/>
                </a:solidFill>
              </a:rPr>
              <a:t> para instituciones de salud que transforman su operación transaccional en un negocio impulsado por datos, generando valor sostenible mediante inteligencia operacional y análisis predictivo.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5760" y="27432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4748B"/>
                </a:solidFill>
              </a:rPr>
              <a:t>OBJETIVOS ESTRATÉGICOS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65760" y="3090672"/>
            <a:ext cx="19202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13" name="Shape 11"/>
          <p:cNvSpPr/>
          <p:nvPr/>
        </p:nvSpPr>
        <p:spPr>
          <a:xfrm>
            <a:off x="365760" y="3090672"/>
            <a:ext cx="1920240" cy="4114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4" name="Text 12"/>
          <p:cNvSpPr/>
          <p:nvPr/>
        </p:nvSpPr>
        <p:spPr>
          <a:xfrm>
            <a:off x="365760" y="3090672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1526"/>
                </a:solidFill>
              </a:rPr>
              <a:t>01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7200" y="3547872"/>
            <a:ext cx="1737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Efectividad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≥ 70% de citas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atendidas en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6 meses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468880" y="3090672"/>
            <a:ext cx="19202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17" name="Shape 15"/>
          <p:cNvSpPr/>
          <p:nvPr/>
        </p:nvSpPr>
        <p:spPr>
          <a:xfrm>
            <a:off x="2468880" y="3090672"/>
            <a:ext cx="1920240" cy="4114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8" name="Text 16"/>
          <p:cNvSpPr/>
          <p:nvPr/>
        </p:nvSpPr>
        <p:spPr>
          <a:xfrm>
            <a:off x="2468880" y="3090672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1526"/>
                </a:solidFill>
              </a:rPr>
              <a:t>02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560320" y="3547872"/>
            <a:ext cx="1737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Reducir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inasistencias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a menos del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8%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0" y="3090672"/>
            <a:ext cx="19202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21" name="Shape 19"/>
          <p:cNvSpPr/>
          <p:nvPr/>
        </p:nvSpPr>
        <p:spPr>
          <a:xfrm>
            <a:off x="4572000" y="3090672"/>
            <a:ext cx="1920240" cy="4114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2" name="Text 20"/>
          <p:cNvSpPr/>
          <p:nvPr/>
        </p:nvSpPr>
        <p:spPr>
          <a:xfrm>
            <a:off x="4572000" y="3090672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1526"/>
                </a:solidFill>
              </a:rPr>
              <a:t>03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663440" y="3547872"/>
            <a:ext cx="1737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Identificar top 3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especialidades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para inversión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estratégica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675120" y="3090672"/>
            <a:ext cx="19202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25" name="Shape 23"/>
          <p:cNvSpPr/>
          <p:nvPr/>
        </p:nvSpPr>
        <p:spPr>
          <a:xfrm>
            <a:off x="6675120" y="3090672"/>
            <a:ext cx="1920240" cy="4114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6" name="Text 24"/>
          <p:cNvSpPr/>
          <p:nvPr/>
        </p:nvSpPr>
        <p:spPr>
          <a:xfrm>
            <a:off x="6675120" y="3090672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1526"/>
                </a:solidFill>
              </a:rPr>
              <a:t>04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766560" y="3547872"/>
            <a:ext cx="1737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Recuperar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$27,100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anuales en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multas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164592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065A82">
                    <a:alpha val="70000"/>
                  </a:srgbClr>
                </a:solidFill>
              </a:rPr>
              <a:t>04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C39A"/>
                </a:solidFill>
              </a:rPr>
              <a:t>ESTRATEGIA COMPETITIVA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</a:rPr>
              <a:t>Tipos de Ventaja Competitiva del MIS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4114800" cy="34747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6" name="Text 4"/>
          <p:cNvSpPr/>
          <p:nvPr/>
        </p:nvSpPr>
        <p:spPr>
          <a:xfrm>
            <a:off x="548640" y="129844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2C39A"/>
                </a:solidFill>
              </a:rPr>
              <a:t>TIPO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1536192"/>
            <a:ext cx="3749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Ventaja por</a:t>
            </a:r>
            <a:endParaRPr lang="en-US" sz="2200" dirty="0"/>
          </a:p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Diferenciación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48640" y="2267712"/>
            <a:ext cx="3749040" cy="2286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9" name="Shape 7"/>
          <p:cNvSpPr/>
          <p:nvPr/>
        </p:nvSpPr>
        <p:spPr>
          <a:xfrm>
            <a:off x="548640" y="2395728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0" name="Text 8"/>
          <p:cNvSpPr/>
          <p:nvPr/>
        </p:nvSpPr>
        <p:spPr>
          <a:xfrm>
            <a:off x="841248" y="2359152"/>
            <a:ext cx="34564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Dashboard en </a:t>
            </a:r>
            <a:r>
              <a:rPr lang="en-US" sz="1000" dirty="0" err="1">
                <a:solidFill>
                  <a:srgbClr val="FFFFFF"/>
                </a:solidFill>
              </a:rPr>
              <a:t>tiempo</a:t>
            </a:r>
            <a:r>
              <a:rPr lang="en-US" sz="1000" dirty="0">
                <a:solidFill>
                  <a:srgbClr val="FFFFFF"/>
                </a:solidFill>
              </a:rPr>
              <a:t> real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2825496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2" name="Text 10"/>
          <p:cNvSpPr/>
          <p:nvPr/>
        </p:nvSpPr>
        <p:spPr>
          <a:xfrm>
            <a:off x="841248" y="2788920"/>
            <a:ext cx="34564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Sistema automatizado de </a:t>
            </a:r>
            <a:r>
              <a:rPr lang="en-US" sz="1000" dirty="0" err="1">
                <a:solidFill>
                  <a:srgbClr val="FFFFFF"/>
                </a:solidFill>
              </a:rPr>
              <a:t>multas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3255264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4" name="Text 12"/>
          <p:cNvSpPr/>
          <p:nvPr/>
        </p:nvSpPr>
        <p:spPr>
          <a:xfrm>
            <a:off x="841248" y="3218688"/>
            <a:ext cx="34564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Análisis de 30,000 citas con 8 KPIs ejecutivos integrados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3685032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6" name="Text 14"/>
          <p:cNvSpPr/>
          <p:nvPr/>
        </p:nvSpPr>
        <p:spPr>
          <a:xfrm>
            <a:off x="841248" y="3648456"/>
            <a:ext cx="34564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Demografía predictiva para segmentar servicios al paciente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4114800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8" name="Text 16"/>
          <p:cNvSpPr/>
          <p:nvPr/>
        </p:nvSpPr>
        <p:spPr>
          <a:xfrm>
            <a:off x="841248" y="4078224"/>
            <a:ext cx="34564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Excelencia operacional basada en datos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663440" y="1188720"/>
            <a:ext cx="4114800" cy="34747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20" name="Text 18"/>
          <p:cNvSpPr/>
          <p:nvPr/>
        </p:nvSpPr>
        <p:spPr>
          <a:xfrm>
            <a:off x="4846320" y="129844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2C39A"/>
                </a:solidFill>
              </a:rPr>
              <a:t>TIPO 2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46320" y="1536192"/>
            <a:ext cx="3749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Ventaja por</a:t>
            </a:r>
            <a:endParaRPr lang="en-US" sz="2200" dirty="0"/>
          </a:p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Reducción de Costos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4846320" y="2267712"/>
            <a:ext cx="3749040" cy="2286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3" name="Shape 21"/>
          <p:cNvSpPr/>
          <p:nvPr/>
        </p:nvSpPr>
        <p:spPr>
          <a:xfrm>
            <a:off x="4846320" y="2395728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4" name="Text 22"/>
          <p:cNvSpPr/>
          <p:nvPr/>
        </p:nvSpPr>
        <p:spPr>
          <a:xfrm>
            <a:off x="5138928" y="2359152"/>
            <a:ext cx="34564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Automatiza reportería manual: ahorra 40+ horas al mes en administración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46320" y="2825496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6" name="Text 24"/>
          <p:cNvSpPr/>
          <p:nvPr/>
        </p:nvSpPr>
        <p:spPr>
          <a:xfrm>
            <a:off x="5138928" y="2788920"/>
            <a:ext cx="34564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Elimina jornadas médicas improductivas detectadas por KPI de carga laboral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846320" y="3255264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8" name="Text 26"/>
          <p:cNvSpPr/>
          <p:nvPr/>
        </p:nvSpPr>
        <p:spPr>
          <a:xfrm>
            <a:off x="5138928" y="3218688"/>
            <a:ext cx="34564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$27,100 anuales recuperados por sistema de multas por inasistencia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46320" y="3685032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0" name="Text 28"/>
          <p:cNvSpPr/>
          <p:nvPr/>
        </p:nvSpPr>
        <p:spPr>
          <a:xfrm>
            <a:off x="5138928" y="3648456"/>
            <a:ext cx="34564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Evita compra de ERP propietario ($30,000–$50,000) con solución propia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846320" y="4114800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2" name="Text 30"/>
          <p:cNvSpPr/>
          <p:nvPr/>
        </p:nvSpPr>
        <p:spPr>
          <a:xfrm>
            <a:off x="5138928" y="4078224"/>
            <a:ext cx="34564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Planning </a:t>
            </a:r>
            <a:r>
              <a:rPr lang="en-US" sz="1000" dirty="0" err="1">
                <a:solidFill>
                  <a:srgbClr val="FFFFFF"/>
                </a:solidFill>
              </a:rPr>
              <a:t>proactivo</a:t>
            </a:r>
            <a:r>
              <a:rPr lang="en-US" sz="1000" dirty="0">
                <a:solidFill>
                  <a:srgbClr val="FFFFFF"/>
                </a:solidFill>
              </a:rPr>
              <a:t> que reduce costos de contratación reactiva de médicos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164592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065A82">
                    <a:alpha val="70000"/>
                  </a:srgbClr>
                </a:solidFill>
              </a:rPr>
              <a:t>06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C39A"/>
                </a:solidFill>
              </a:rPr>
              <a:t>RESULTADOS DEL ANÁLISIS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</a:rPr>
              <a:t>8 KPIs calculados sobre datos reales del sistema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1207008"/>
            <a:ext cx="19202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64008" cy="14173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7" name="Text 5"/>
          <p:cNvSpPr/>
          <p:nvPr/>
        </p:nvSpPr>
        <p:spPr>
          <a:xfrm>
            <a:off x="475488" y="1261872"/>
            <a:ext cx="17190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2C55E"/>
                </a:solidFill>
              </a:rPr>
              <a:t>79.6%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75488" y="1847088"/>
            <a:ext cx="17190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KPI 1: Tasa de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Efectividad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75488" y="2267712"/>
            <a:ext cx="17190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4748B"/>
                </a:solidFill>
              </a:rPr>
              <a:t>Meta ≥ 85%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468880" y="1207008"/>
            <a:ext cx="19202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11" name="Shape 9"/>
          <p:cNvSpPr/>
          <p:nvPr/>
        </p:nvSpPr>
        <p:spPr>
          <a:xfrm>
            <a:off x="2468880" y="1207008"/>
            <a:ext cx="64008" cy="14173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2" name="Text 10"/>
          <p:cNvSpPr/>
          <p:nvPr/>
        </p:nvSpPr>
        <p:spPr>
          <a:xfrm>
            <a:off x="2578608" y="1261872"/>
            <a:ext cx="17190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65A82"/>
                </a:solidFill>
              </a:rPr>
              <a:t>9.0%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578608" y="1847088"/>
            <a:ext cx="17190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KPI 2: Tasa de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Pérdidas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578608" y="2267712"/>
            <a:ext cx="17190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4748B"/>
                </a:solidFill>
              </a:rPr>
              <a:t>Meta ≤ 15% ✓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0" y="1207008"/>
            <a:ext cx="19202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16" name="Shape 14"/>
          <p:cNvSpPr/>
          <p:nvPr/>
        </p:nvSpPr>
        <p:spPr>
          <a:xfrm>
            <a:off x="4572000" y="1207008"/>
            <a:ext cx="64008" cy="14173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7" name="Text 15"/>
          <p:cNvSpPr/>
          <p:nvPr/>
        </p:nvSpPr>
        <p:spPr>
          <a:xfrm>
            <a:off x="4681728" y="1261872"/>
            <a:ext cx="17190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59E0B"/>
                </a:solidFill>
              </a:rPr>
              <a:t>$27,100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4681728" y="1847088"/>
            <a:ext cx="17190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KPI 5: Ingresos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Recuperables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681728" y="2267712"/>
            <a:ext cx="17190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4748B"/>
                </a:solidFill>
              </a:rPr>
              <a:t>por multas/año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675120" y="1207008"/>
            <a:ext cx="19202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21" name="Shape 19"/>
          <p:cNvSpPr/>
          <p:nvPr/>
        </p:nvSpPr>
        <p:spPr>
          <a:xfrm>
            <a:off x="6675120" y="1207008"/>
            <a:ext cx="64008" cy="14173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2" name="Text 20"/>
          <p:cNvSpPr/>
          <p:nvPr/>
        </p:nvSpPr>
        <p:spPr>
          <a:xfrm>
            <a:off x="6784848" y="1261872"/>
            <a:ext cx="17190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C7293"/>
                </a:solidFill>
              </a:rPr>
              <a:t>30,000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6784848" y="1847088"/>
            <a:ext cx="17190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KPI 6: Total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de Citas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784848" y="2267712"/>
            <a:ext cx="17190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4748B"/>
                </a:solidFill>
              </a:rPr>
              <a:t>en 12 meses</a:t>
            </a:r>
            <a:endParaRPr lang="en-US" sz="850" dirty="0"/>
          </a:p>
        </p:txBody>
      </p:sp>
      <p:graphicFrame>
        <p:nvGraphicFramePr>
          <p:cNvPr id="25" name="Chart 0"/>
          <p:cNvGraphicFramePr/>
          <p:nvPr/>
        </p:nvGraphicFramePr>
        <p:xfrm>
          <a:off x="365760" y="2788920"/>
          <a:ext cx="4114800" cy="2103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6" name="Chart 1"/>
          <p:cNvGraphicFramePr/>
          <p:nvPr/>
        </p:nvGraphicFramePr>
        <p:xfrm>
          <a:off x="4663440" y="2788920"/>
          <a:ext cx="4114800" cy="2103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28" name="Imagen 27">
            <a:extLst>
              <a:ext uri="{FF2B5EF4-FFF2-40B4-BE49-F238E27FC236}">
                <a16:creationId xmlns:a16="http://schemas.microsoft.com/office/drawing/2014/main" id="{26893913-B541-3ED4-6F90-1A05FD7B08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0009" y="2843784"/>
            <a:ext cx="2604409" cy="2000212"/>
          </a:xfrm>
          <a:prstGeom prst="rect">
            <a:avLst/>
          </a:prstGeom>
        </p:spPr>
      </p:pic>
      <p:pic>
        <p:nvPicPr>
          <p:cNvPr id="30" name="Imagen 29">
            <a:extLst>
              <a:ext uri="{FF2B5EF4-FFF2-40B4-BE49-F238E27FC236}">
                <a16:creationId xmlns:a16="http://schemas.microsoft.com/office/drawing/2014/main" id="{40A826CA-C027-A190-2F8F-8BC22F3F29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7046" y="2843784"/>
            <a:ext cx="3875117" cy="195383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164592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065A82">
                    <a:alpha val="70000"/>
                  </a:srgbClr>
                </a:solidFill>
              </a:rPr>
              <a:t>07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C39A"/>
                </a:solidFill>
              </a:rPr>
              <a:t>EVOLUCIÓN DE DEMANDA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</a:rPr>
              <a:t>KPI 6: Tendencia mensual de citas programadas — datos reales del TPS</a:t>
            </a:r>
            <a:endParaRPr lang="en-US" sz="20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365760" y="1188720"/>
          <a:ext cx="640080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6949440" y="1325880"/>
            <a:ext cx="18288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7" name="Shape 4"/>
          <p:cNvSpPr/>
          <p:nvPr/>
        </p:nvSpPr>
        <p:spPr>
          <a:xfrm>
            <a:off x="6949440" y="1325880"/>
            <a:ext cx="182880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8" name="Text 5"/>
          <p:cNvSpPr/>
          <p:nvPr/>
        </p:nvSpPr>
        <p:spPr>
          <a:xfrm>
            <a:off x="6995160" y="144475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65A82"/>
                </a:solidFill>
              </a:rPr>
              <a:t>4,500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995160" y="1874520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64748B"/>
                </a:solidFill>
              </a:rPr>
              <a:t>Pico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6995160" y="2057400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4748B"/>
                </a:solidFill>
              </a:rPr>
              <a:t>Enero 2027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6949440" y="2468880"/>
            <a:ext cx="18288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12" name="Shape 9"/>
          <p:cNvSpPr/>
          <p:nvPr/>
        </p:nvSpPr>
        <p:spPr>
          <a:xfrm>
            <a:off x="6949440" y="2468880"/>
            <a:ext cx="182880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3" name="Text 10"/>
          <p:cNvSpPr/>
          <p:nvPr/>
        </p:nvSpPr>
        <p:spPr>
          <a:xfrm>
            <a:off x="6995160" y="258775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65A82"/>
                </a:solidFill>
              </a:rPr>
              <a:t>+10,381%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995160" y="3017520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64748B"/>
                </a:solidFill>
              </a:rPr>
              <a:t>Crecimiento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6995160" y="3200400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4748B"/>
                </a:solidFill>
              </a:rPr>
              <a:t>May → Ene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6949440" y="3611880"/>
            <a:ext cx="18288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17" name="Shape 14"/>
          <p:cNvSpPr/>
          <p:nvPr/>
        </p:nvSpPr>
        <p:spPr>
          <a:xfrm>
            <a:off x="6949440" y="3611880"/>
            <a:ext cx="182880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8" name="Text 15"/>
          <p:cNvSpPr/>
          <p:nvPr/>
        </p:nvSpPr>
        <p:spPr>
          <a:xfrm>
            <a:off x="6995160" y="373075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65A82"/>
                </a:solidFill>
              </a:rPr>
              <a:t>2,308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6995160" y="4160520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64748B"/>
                </a:solidFill>
              </a:rPr>
              <a:t>Promedio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6995160" y="4343400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4748B"/>
                </a:solidFill>
              </a:rPr>
              <a:t>citas / mes</a:t>
            </a:r>
            <a:endParaRPr lang="en-US" sz="850" dirty="0"/>
          </a:p>
        </p:txBody>
      </p:sp>
      <p:pic>
        <p:nvPicPr>
          <p:cNvPr id="22" name="Imagen 21">
            <a:extLst>
              <a:ext uri="{FF2B5EF4-FFF2-40B4-BE49-F238E27FC236}">
                <a16:creationId xmlns:a16="http://schemas.microsoft.com/office/drawing/2014/main" id="{75E437BA-5E5B-8E55-7CF7-8BF8EFDAEEE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9495"/>
          <a:stretch>
            <a:fillRect/>
          </a:stretch>
        </p:blipFill>
        <p:spPr>
          <a:xfrm>
            <a:off x="388620" y="1188720"/>
            <a:ext cx="6400800" cy="34202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164592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065A82">
                    <a:alpha val="70000"/>
                  </a:srgbClr>
                </a:solidFill>
              </a:rPr>
              <a:t>08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C39A"/>
                </a:solidFill>
              </a:rPr>
              <a:t>ANÁLISIS FINANCIERO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</a:rPr>
              <a:t>Inversión, Retorno y Justificación del Costo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1207008"/>
            <a:ext cx="26517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2651760" cy="73152"/>
          </a:xfrm>
          <a:prstGeom prst="rect">
            <a:avLst/>
          </a:prstGeom>
          <a:solidFill>
            <a:srgbClr val="D62828"/>
          </a:solidFill>
          <a:ln w="12700">
            <a:solidFill>
              <a:srgbClr val="D62828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7" name="Text 5"/>
          <p:cNvSpPr/>
          <p:nvPr/>
        </p:nvSpPr>
        <p:spPr>
          <a:xfrm>
            <a:off x="457200" y="1353312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D62828"/>
                </a:solidFill>
              </a:rPr>
              <a:t>$5,000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457200" y="199339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Inversión Total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28600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</a:rPr>
              <a:t>Desarrollo + Capacitación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00400" y="1207008"/>
            <a:ext cx="26517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11" name="Shape 9"/>
          <p:cNvSpPr/>
          <p:nvPr/>
        </p:nvSpPr>
        <p:spPr>
          <a:xfrm>
            <a:off x="3200400" y="1207008"/>
            <a:ext cx="2651760" cy="7315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2" name="Text 10"/>
          <p:cNvSpPr/>
          <p:nvPr/>
        </p:nvSpPr>
        <p:spPr>
          <a:xfrm>
            <a:off x="3291840" y="1353312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22C55E"/>
                </a:solidFill>
              </a:rPr>
              <a:t>$25,000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3291840" y="199339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Retorno Año 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91840" y="228600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</a:rPr>
              <a:t>Ingresos + Ahorro Operacional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35040" y="1207008"/>
            <a:ext cx="26517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16" name="Shape 14"/>
          <p:cNvSpPr/>
          <p:nvPr/>
        </p:nvSpPr>
        <p:spPr>
          <a:xfrm>
            <a:off x="6035040" y="1207008"/>
            <a:ext cx="2651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7" name="Text 15"/>
          <p:cNvSpPr/>
          <p:nvPr/>
        </p:nvSpPr>
        <p:spPr>
          <a:xfrm>
            <a:off x="6126480" y="1353312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59E0B"/>
                </a:solidFill>
              </a:rPr>
              <a:t>$250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6126480" y="199339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1E293B"/>
                </a:solidFill>
              </a:rPr>
              <a:t>Mantenimiento</a:t>
            </a:r>
            <a:r>
              <a:rPr lang="en-US" sz="1200" b="1" dirty="0">
                <a:solidFill>
                  <a:srgbClr val="1E293B"/>
                </a:solidFill>
              </a:rPr>
              <a:t> al Mes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126480" y="228600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65760" y="26974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4748B"/>
                </a:solidFill>
              </a:rPr>
              <a:t>DESGLOSE DE INVERSIÓN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65760" y="3017520"/>
            <a:ext cx="4114800" cy="292608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2" name="Text 20"/>
          <p:cNvSpPr/>
          <p:nvPr/>
        </p:nvSpPr>
        <p:spPr>
          <a:xfrm>
            <a:off x="502920" y="301752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Análisis y diseño del sistema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566160" y="301752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65A82"/>
                </a:solidFill>
              </a:rPr>
              <a:t>$700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3337560"/>
            <a:ext cx="411480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5" name="Text 23"/>
          <p:cNvSpPr/>
          <p:nvPr/>
        </p:nvSpPr>
        <p:spPr>
          <a:xfrm>
            <a:off x="502920" y="333756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Desarrollo TPS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566160" y="333756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65A82"/>
                </a:solidFill>
              </a:rPr>
              <a:t>$1,500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5760" y="3657600"/>
            <a:ext cx="4114800" cy="292608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8" name="Text 26"/>
          <p:cNvSpPr/>
          <p:nvPr/>
        </p:nvSpPr>
        <p:spPr>
          <a:xfrm>
            <a:off x="502920" y="365760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Generador de datos + ETL Jupyter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566160" y="365760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65A82"/>
                </a:solidFill>
              </a:rPr>
              <a:t>$1,100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760" y="3977640"/>
            <a:ext cx="411480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1" name="Text 29"/>
          <p:cNvSpPr/>
          <p:nvPr/>
        </p:nvSpPr>
        <p:spPr>
          <a:xfrm>
            <a:off x="502920" y="397764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Dashboard MIS (8 KPIs)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66160" y="397764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65A82"/>
                </a:solidFill>
              </a:rPr>
              <a:t>$900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65760" y="4297680"/>
            <a:ext cx="4114800" cy="292608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4" name="Text 32"/>
          <p:cNvSpPr/>
          <p:nvPr/>
        </p:nvSpPr>
        <p:spPr>
          <a:xfrm>
            <a:off x="502920" y="429768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Documentación y capacitación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566160" y="429768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65A82"/>
                </a:solidFill>
              </a:rPr>
              <a:t>$500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65760" y="4617720"/>
            <a:ext cx="411480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7" name="Text 35"/>
          <p:cNvSpPr/>
          <p:nvPr/>
        </p:nvSpPr>
        <p:spPr>
          <a:xfrm>
            <a:off x="502920" y="461772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Infraestructura y contingencia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566160" y="461772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65A82"/>
                </a:solidFill>
              </a:rPr>
              <a:t>$300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663440" y="26974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4748B"/>
                </a:solidFill>
              </a:rPr>
              <a:t>COMPONENTES DEL RETORNO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3017520"/>
            <a:ext cx="41148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1" name="Shape 39"/>
          <p:cNvSpPr/>
          <p:nvPr/>
        </p:nvSpPr>
        <p:spPr>
          <a:xfrm>
            <a:off x="4663440" y="3017520"/>
            <a:ext cx="54864" cy="402336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2" name="Text 40"/>
          <p:cNvSpPr/>
          <p:nvPr/>
        </p:nvSpPr>
        <p:spPr>
          <a:xfrm>
            <a:off x="4791456" y="30358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Multas por inasistencia/año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498080" y="3035808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22C55E"/>
                </a:solidFill>
              </a:rPr>
              <a:t>$15,000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663440" y="3493008"/>
            <a:ext cx="41148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5" name="Shape 43"/>
          <p:cNvSpPr/>
          <p:nvPr/>
        </p:nvSpPr>
        <p:spPr>
          <a:xfrm>
            <a:off x="4663440" y="3493008"/>
            <a:ext cx="54864" cy="402336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6" name="Text 44"/>
          <p:cNvSpPr/>
          <p:nvPr/>
        </p:nvSpPr>
        <p:spPr>
          <a:xfrm>
            <a:off x="4791456" y="3511296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Ahorro en reportería manual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7498080" y="3511296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C7293"/>
                </a:solidFill>
              </a:rPr>
              <a:t>$3,000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4663440" y="3968496"/>
            <a:ext cx="41148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9" name="Shape 47"/>
          <p:cNvSpPr/>
          <p:nvPr/>
        </p:nvSpPr>
        <p:spPr>
          <a:xfrm>
            <a:off x="4663440" y="3968496"/>
            <a:ext cx="54864" cy="402336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50" name="Text 48"/>
          <p:cNvSpPr/>
          <p:nvPr/>
        </p:nvSpPr>
        <p:spPr>
          <a:xfrm>
            <a:off x="4791456" y="3986784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Reducción jornadas improductivas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7498080" y="3986784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65A82"/>
                </a:solidFill>
              </a:rPr>
              <a:t>$4,000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663440" y="4443984"/>
            <a:ext cx="41148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53" name="Shape 51"/>
          <p:cNvSpPr/>
          <p:nvPr/>
        </p:nvSpPr>
        <p:spPr>
          <a:xfrm>
            <a:off x="4663440" y="4443984"/>
            <a:ext cx="54864" cy="402336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54" name="Text 52"/>
          <p:cNvSpPr/>
          <p:nvPr/>
        </p:nvSpPr>
        <p:spPr>
          <a:xfrm>
            <a:off x="4791456" y="446227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Optimización de contraciones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7498080" y="446227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2C39A"/>
                </a:solidFill>
              </a:rPr>
              <a:t>$3,000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164592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065A82">
                    <a:alpha val="70000"/>
                  </a:srgbClr>
                </a:solidFill>
              </a:rPr>
              <a:t>09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C39A"/>
                </a:solidFill>
              </a:rPr>
              <a:t>HOJA DE RUTA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</a:rPr>
              <a:t>Plan de Implementación — 4 Fases, 8 semanas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192024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1920240" cy="8686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7" name="Text 5"/>
          <p:cNvSpPr/>
          <p:nvPr/>
        </p:nvSpPr>
        <p:spPr>
          <a:xfrm>
            <a:off x="365760" y="121615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>
                    <a:alpha val="60000"/>
                  </a:srgbClr>
                </a:solidFill>
              </a:rPr>
              <a:t>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38912" y="1554480"/>
            <a:ext cx="17739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PLANIFICACIÓN Y ANÁLISIS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65760" y="2057400"/>
            <a:ext cx="1920240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0" name="Text 8"/>
          <p:cNvSpPr/>
          <p:nvPr/>
        </p:nvSpPr>
        <p:spPr>
          <a:xfrm>
            <a:off x="365760" y="2057400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</a:rPr>
              <a:t>Sem 1  ·  1 semana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2441448"/>
            <a:ext cx="109728" cy="1097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2" name="Text 10"/>
          <p:cNvSpPr/>
          <p:nvPr/>
        </p:nvSpPr>
        <p:spPr>
          <a:xfrm>
            <a:off x="667512" y="2404872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Análisis de requerimientos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2920" y="2953512"/>
            <a:ext cx="109728" cy="1097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4" name="Text 12"/>
          <p:cNvSpPr/>
          <p:nvPr/>
        </p:nvSpPr>
        <p:spPr>
          <a:xfrm>
            <a:off x="667512" y="2916936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Identificación de stakeholders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465576"/>
            <a:ext cx="109728" cy="1097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6" name="Text 14"/>
          <p:cNvSpPr/>
          <p:nvPr/>
        </p:nvSpPr>
        <p:spPr>
          <a:xfrm>
            <a:off x="667512" y="3429000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Definición de 8 KPIs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3977640"/>
            <a:ext cx="109728" cy="1097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8" name="Text 16"/>
          <p:cNvSpPr/>
          <p:nvPr/>
        </p:nvSpPr>
        <p:spPr>
          <a:xfrm>
            <a:off x="667512" y="3941064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Diseño de mockups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468880" y="1188720"/>
            <a:ext cx="192024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20" name="Shape 18"/>
          <p:cNvSpPr/>
          <p:nvPr/>
        </p:nvSpPr>
        <p:spPr>
          <a:xfrm>
            <a:off x="2468880" y="1188720"/>
            <a:ext cx="1920240" cy="8686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1" name="Text 19"/>
          <p:cNvSpPr/>
          <p:nvPr/>
        </p:nvSpPr>
        <p:spPr>
          <a:xfrm>
            <a:off x="2468880" y="121615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>
                    <a:alpha val="60000"/>
                  </a:srgbClr>
                </a:solidFill>
              </a:rPr>
              <a:t>02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2542032" y="1554480"/>
            <a:ext cx="17739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DESARROLLO DEL TPS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468880" y="2057400"/>
            <a:ext cx="1920240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4" name="Text 22"/>
          <p:cNvSpPr/>
          <p:nvPr/>
        </p:nvSpPr>
        <p:spPr>
          <a:xfrm>
            <a:off x="2468880" y="2057400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</a:rPr>
              <a:t>Sem 2-4  ·  3 semanas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606040" y="2441448"/>
            <a:ext cx="109728" cy="10972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6" name="Text 24"/>
          <p:cNvSpPr/>
          <p:nvPr/>
        </p:nvSpPr>
        <p:spPr>
          <a:xfrm>
            <a:off x="2770632" y="2404872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Sistema C: 6 módulos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606040" y="2953512"/>
            <a:ext cx="109728" cy="10972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8" name="Text 26"/>
          <p:cNvSpPr/>
          <p:nvPr/>
        </p:nvSpPr>
        <p:spPr>
          <a:xfrm>
            <a:off x="2770632" y="2916936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Autenticación 3 roles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606040" y="3465576"/>
            <a:ext cx="109728" cy="10972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0" name="Text 28"/>
          <p:cNvSpPr/>
          <p:nvPr/>
        </p:nvSpPr>
        <p:spPr>
          <a:xfrm>
            <a:off x="2770632" y="3429000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Módulo de multas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2770632" y="3941064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572000" y="1188720"/>
            <a:ext cx="192024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34" name="Shape 32"/>
          <p:cNvSpPr/>
          <p:nvPr/>
        </p:nvSpPr>
        <p:spPr>
          <a:xfrm>
            <a:off x="4572000" y="1188720"/>
            <a:ext cx="1920240" cy="8686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5" name="Text 33"/>
          <p:cNvSpPr/>
          <p:nvPr/>
        </p:nvSpPr>
        <p:spPr>
          <a:xfrm>
            <a:off x="4572000" y="121615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>
                    <a:alpha val="60000"/>
                  </a:srgbClr>
                </a:solidFill>
              </a:rPr>
              <a:t>03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4645152" y="1554480"/>
            <a:ext cx="17739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IMPLEMENTACIÓN MIS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572000" y="2057400"/>
            <a:ext cx="1920240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8" name="Text 36"/>
          <p:cNvSpPr/>
          <p:nvPr/>
        </p:nvSpPr>
        <p:spPr>
          <a:xfrm>
            <a:off x="4572000" y="2057400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</a:rPr>
              <a:t>Sem 5-6  ·  2 semanas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709160" y="2441448"/>
            <a:ext cx="109728" cy="10972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0" name="Text 38"/>
          <p:cNvSpPr/>
          <p:nvPr/>
        </p:nvSpPr>
        <p:spPr>
          <a:xfrm>
            <a:off x="4873752" y="2404872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Pipeline ETL Jupyter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709160" y="2953512"/>
            <a:ext cx="109728" cy="10972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2" name="Text 40"/>
          <p:cNvSpPr/>
          <p:nvPr/>
        </p:nvSpPr>
        <p:spPr>
          <a:xfrm>
            <a:off x="4873752" y="2916936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Cálculo de KPIs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709160" y="3465576"/>
            <a:ext cx="109728" cy="10972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4" name="Text 42"/>
          <p:cNvSpPr/>
          <p:nvPr/>
        </p:nvSpPr>
        <p:spPr>
          <a:xfrm>
            <a:off x="4873752" y="3429000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8 dashboards Matplotlib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709160" y="3977640"/>
            <a:ext cx="109728" cy="10972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6" name="Text 44"/>
          <p:cNvSpPr/>
          <p:nvPr/>
        </p:nvSpPr>
        <p:spPr>
          <a:xfrm>
            <a:off x="4873752" y="3941064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Pruebas con 30,000 citas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675120" y="1188720"/>
            <a:ext cx="192024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48" name="Shape 46"/>
          <p:cNvSpPr/>
          <p:nvPr/>
        </p:nvSpPr>
        <p:spPr>
          <a:xfrm>
            <a:off x="6675120" y="1188720"/>
            <a:ext cx="1920240" cy="86868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9" name="Text 47"/>
          <p:cNvSpPr/>
          <p:nvPr/>
        </p:nvSpPr>
        <p:spPr>
          <a:xfrm>
            <a:off x="6675120" y="121615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>
                    <a:alpha val="60000"/>
                  </a:srgbClr>
                </a:solidFill>
              </a:rPr>
              <a:t>04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6748272" y="1554480"/>
            <a:ext cx="17739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VENTA Y ENTREGA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6675120" y="2057400"/>
            <a:ext cx="1920240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52" name="Text 50"/>
          <p:cNvSpPr/>
          <p:nvPr/>
        </p:nvSpPr>
        <p:spPr>
          <a:xfrm>
            <a:off x="6675120" y="2057400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</a:rPr>
              <a:t>Sem 7-8  ·  2 semanas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812280" y="2441448"/>
            <a:ext cx="109728" cy="10972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54" name="Text 52"/>
          <p:cNvSpPr/>
          <p:nvPr/>
        </p:nvSpPr>
        <p:spPr>
          <a:xfrm>
            <a:off x="6976872" y="2404872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Presentación gerencial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6812280" y="2953512"/>
            <a:ext cx="109728" cy="10972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56" name="Text 54"/>
          <p:cNvSpPr/>
          <p:nvPr/>
        </p:nvSpPr>
        <p:spPr>
          <a:xfrm>
            <a:off x="6976872" y="2916936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Informe final académico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6812280" y="3465576"/>
            <a:ext cx="109728" cy="10972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58" name="Text 56"/>
          <p:cNvSpPr/>
          <p:nvPr/>
        </p:nvSpPr>
        <p:spPr>
          <a:xfrm>
            <a:off x="6976872" y="3429000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Capacitación de usuarios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6812280" y="3977640"/>
            <a:ext cx="109728" cy="10972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60" name="Text 58"/>
          <p:cNvSpPr/>
          <p:nvPr/>
        </p:nvSpPr>
        <p:spPr>
          <a:xfrm>
            <a:off x="6976872" y="3941064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Deployment final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2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" name="Text 2"/>
          <p:cNvSpPr/>
          <p:nvPr/>
        </p:nvSpPr>
        <p:spPr>
          <a:xfrm>
            <a:off x="914400" y="502920"/>
            <a:ext cx="7315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</a:rPr>
              <a:t>De los datos al conocimiento.</a:t>
            </a:r>
            <a:endParaRPr lang="en-US" sz="3000" dirty="0"/>
          </a:p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</a:rPr>
              <a:t>Del conocimiento a la decisión.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200400" y="1965960"/>
            <a:ext cx="2743200" cy="36576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6" name="Text 4"/>
          <p:cNvSpPr/>
          <p:nvPr/>
        </p:nvSpPr>
        <p:spPr>
          <a:xfrm>
            <a:off x="457200" y="210312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2C39A"/>
                </a:solidFill>
              </a:rPr>
              <a:t>30,000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269748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</a:rPr>
              <a:t>Citas Analizadas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514600" y="210312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2C39A"/>
                </a:solidFill>
              </a:rPr>
              <a:t>79.6%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2514600" y="269748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</a:rPr>
              <a:t>Tasa de Efectividad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0" y="210312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2C39A"/>
                </a:solidFill>
              </a:rPr>
              <a:t>$25,000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572000" y="269748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</a:rPr>
              <a:t>Capital Recuperable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629400" y="210312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2C39A"/>
                </a:solidFill>
              </a:rPr>
              <a:t>194%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629400" y="269748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</a:rPr>
              <a:t>ROI Proyectado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8229600" cy="36576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5" name="Text 13"/>
          <p:cNvSpPr/>
          <p:nvPr/>
        </p:nvSpPr>
        <p:spPr>
          <a:xfrm>
            <a:off x="731520" y="3246120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50" i="1" dirty="0">
                <a:solidFill>
                  <a:srgbClr val="FFFFFF">
                    <a:alpha val="90000"/>
                  </a:srgbClr>
                </a:solidFill>
              </a:rPr>
              <a:t>Contacto: </a:t>
            </a:r>
            <a:r>
              <a:rPr lang="en-US" sz="1250" i="1" dirty="0" err="1">
                <a:solidFill>
                  <a:srgbClr val="FFFFFF">
                    <a:alpha val="90000"/>
                  </a:srgbClr>
                </a:solidFill>
                <a:hlinkClick r:id="rId3"/>
              </a:rPr>
              <a:t>derlisaea</a:t>
            </a:r>
            <a:r>
              <a:rPr lang="es-EC" sz="1400" dirty="0">
                <a:solidFill>
                  <a:schemeClr val="bg1"/>
                </a:solidFill>
                <a:hlinkClick r:id="rId3"/>
              </a:rPr>
              <a:t>@gmail.com</a:t>
            </a:r>
            <a:r>
              <a:rPr lang="es-EC" sz="1400" dirty="0">
                <a:solidFill>
                  <a:schemeClr val="bg1"/>
                </a:solidFill>
              </a:rPr>
              <a:t> | +593 99633 2182</a:t>
            </a:r>
            <a:endParaRPr lang="en-US" sz="1250" dirty="0">
              <a:solidFill>
                <a:schemeClr val="bg1"/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457200" y="4297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kern="0" spc="100" dirty="0" err="1">
                <a:solidFill>
                  <a:srgbClr val="02C39A">
                    <a:alpha val="80000"/>
                  </a:srgbClr>
                </a:solidFill>
              </a:rPr>
              <a:t>Introducción</a:t>
            </a:r>
            <a:r>
              <a:rPr lang="en-US" sz="850" kern="0" spc="100" dirty="0">
                <a:solidFill>
                  <a:srgbClr val="02C39A">
                    <a:alpha val="80000"/>
                  </a:srgbClr>
                </a:solidFill>
              </a:rPr>
              <a:t> a los Sistemas de </a:t>
            </a:r>
            <a:r>
              <a:rPr lang="en-US" sz="850" kern="0" spc="100" dirty="0" err="1">
                <a:solidFill>
                  <a:srgbClr val="02C39A">
                    <a:alpha val="80000"/>
                  </a:srgbClr>
                </a:solidFill>
              </a:rPr>
              <a:t>Información</a:t>
            </a:r>
            <a:r>
              <a:rPr lang="en-US" sz="850" kern="0" spc="100" dirty="0">
                <a:solidFill>
                  <a:srgbClr val="02C39A">
                    <a:alpha val="80000"/>
                  </a:srgbClr>
                </a:solidFill>
              </a:rPr>
              <a:t>  ·  EPN-FIS  ·  2026-A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</TotalTime>
  <Words>776</Words>
  <Application>Microsoft Office PowerPoint</Application>
  <PresentationFormat>Presentación en pantalla (16:9)</PresentationFormat>
  <Paragraphs>194</Paragraphs>
  <Slides>9</Slides>
  <Notes>9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1" baseType="lpstr">
      <vt:lpstr>Arial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MIS - Sistema de Gestión de Citas Médicas</dc:title>
  <dc:subject>PptxGenJS Presentation</dc:subject>
  <dc:creator>PptxGenJS</dc:creator>
  <cp:lastModifiedBy>Isma Salazar</cp:lastModifiedBy>
  <cp:revision>6</cp:revision>
  <dcterms:created xsi:type="dcterms:W3CDTF">2026-06-01T06:48:25Z</dcterms:created>
  <dcterms:modified xsi:type="dcterms:W3CDTF">2026-06-02T16:42:38Z</dcterms:modified>
</cp:coreProperties>
</file>